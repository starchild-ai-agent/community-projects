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package/2006/relationships/metadata/thumbnail" Target="docProps/thumbnail.jpeg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8"/>
  </p:notesMasterIdLst>
  <p:handoutMasterIdLst>
    <p:handoutMasterId r:id="rId19"/>
  </p:handoutMasterIdLst>
  <p:sldIdLst>
    <p:sldId id="335" r:id="rId3"/>
    <p:sldId id="257" r:id="rId4"/>
    <p:sldId id="312" r:id="rId5"/>
    <p:sldId id="307" r:id="rId6"/>
    <p:sldId id="330" r:id="rId7"/>
    <p:sldId id="331" r:id="rId8"/>
    <p:sldId id="313" r:id="rId9"/>
    <p:sldId id="309" r:id="rId10"/>
    <p:sldId id="314" r:id="rId11"/>
    <p:sldId id="332" r:id="rId12"/>
    <p:sldId id="315" r:id="rId13"/>
    <p:sldId id="333" r:id="rId14"/>
    <p:sldId id="316" r:id="rId15"/>
    <p:sldId id="334" r:id="rId16"/>
    <p:sldId id="302" r:id="rId17"/>
  </p:sldIdLst>
  <p:sldSz cx="12192000" cy="6858000"/>
  <p:notesSz cx="6858000" cy="9144000"/>
  <p:custDataLst>
    <p:tags r:id="rId23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Animation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242AB"/>
    <a:srgbClr val="395CA5"/>
    <a:srgbClr val="08AAF2"/>
    <a:srgbClr val="BAD5EE"/>
    <a:srgbClr val="B7DEE7"/>
    <a:srgbClr val="E1F1F5"/>
    <a:srgbClr val="93CDDB"/>
    <a:srgbClr val="399AB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0535" autoAdjust="0"/>
  </p:normalViewPr>
  <p:slideViewPr>
    <p:cSldViewPr showGuides="1">
      <p:cViewPr varScale="1">
        <p:scale>
          <a:sx n="66" d="100"/>
          <a:sy n="66" d="100"/>
        </p:scale>
        <p:origin x="1104" y="43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notesMaster" Target="notesMasters/notesMaster1.xml"/><Relationship Id="rId19" Type="http://schemas.openxmlformats.org/officeDocument/2006/relationships/handoutMaster" Target="handoutMasters/handout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ableStyles" Target="tableStyles.xml"/><Relationship Id="rId23" Type="http://schemas.openxmlformats.org/officeDocument/2006/relationships/tags" Target="tags/tag15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A3BDB15-99E8-4A15-983D-631A23F51713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FA1E246-D11B-4A47-A5CA-1A6BCB718EF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 spd="slow" advTm="2200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 spd="slow" advTm="2200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 spd="slow" advTm="2200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 spd="slow" advTm="2200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 spd="slow" advTm="2200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 spd="slow" advTm="2200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 spd="slow" advTm="2200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 spd="slow" advTm="2200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 spd="slow" advTm="2200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 spd="slow" advTm="2200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 spd="slow" advTm="2200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标题与项目符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幻灯片标题"/>
          <p:cNvSpPr txBox="1">
            <a:spLocks noGrp="1"/>
          </p:cNvSpPr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幻灯片标题</a:t>
            </a:r>
          </a:p>
        </p:txBody>
      </p:sp>
      <p:sp>
        <p:nvSpPr>
          <p:cNvPr id="43" name="幻灯片副标题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603250" y="1186481"/>
            <a:ext cx="10985500" cy="46739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726440">
              <a:lnSpc>
                <a:spcPct val="100000"/>
              </a:lnSpc>
              <a:spcBef>
                <a:spcPct val="0"/>
              </a:spcBef>
              <a:buSzTx/>
              <a:buNone/>
              <a:defRPr sz="2420" b="1"/>
            </a:lvl1pPr>
          </a:lstStyle>
          <a:p>
            <a:r>
              <a:t>幻灯片副标题</a:t>
            </a:r>
          </a:p>
        </p:txBody>
      </p:sp>
      <p:sp>
        <p:nvSpPr>
          <p:cNvPr id="44" name="正文级别 1…"/>
          <p:cNvSpPr txBox="1">
            <a:spLocks noGrp="1"/>
          </p:cNvSpPr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幻灯片项目符号文本</a:t>
            </a:r>
          </a:p>
          <a:p>
            <a:pPr lvl="1"/>
          </a:p>
          <a:p>
            <a:pPr lvl="2"/>
          </a:p>
          <a:p>
            <a:pPr lvl="3"/>
          </a:p>
          <a:p>
            <a:pPr lvl="4"/>
          </a:p>
        </p:txBody>
      </p:sp>
      <p:sp>
        <p:nvSpPr>
          <p:cNvPr id="45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slow" advTm="22000"/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ransition spd="slow" advTm="2200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tags" Target="../tags/tag1.xml"/><Relationship Id="rId2" Type="http://schemas.openxmlformats.org/officeDocument/2006/relationships/image" Target="../media/image2.png"/><Relationship Id="rId3" Type="http://schemas.openxmlformats.org/officeDocument/2006/relationships/image" Target="../media/image4.png"/><Relationship Id="rId4" Type="http://schemas.openxmlformats.org/officeDocument/2006/relationships/tags" Target="../tags/tag2.xml"/><Relationship Id="rId5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tags" Target="../tags/tag3.xml"/><Relationship Id="rId6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4.png"/><Relationship Id="rId3" Type="http://schemas.openxmlformats.org/officeDocument/2006/relationships/tags" Target="../tags/tag4.xml"/><Relationship Id="rId4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tags" Target="../tags/tag5.xml"/><Relationship Id="rId6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4.png"/><Relationship Id="rId3" Type="http://schemas.openxmlformats.org/officeDocument/2006/relationships/tags" Target="../tags/tag6.xml"/><Relationship Id="rId4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tags" Target="../tags/tag7.xml"/><Relationship Id="rId6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4.png"/><Relationship Id="rId3" Type="http://schemas.openxmlformats.org/officeDocument/2006/relationships/tags" Target="../tags/tag8.xml"/><Relationship Id="rId4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tags" Target="../tags/tag9.xml"/><Relationship Id="rId6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4.png"/><Relationship Id="rId3" Type="http://schemas.openxmlformats.org/officeDocument/2006/relationships/tags" Target="../tags/tag10.xml"/><Relationship Id="rId4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tags" Target="../tags/tag11.xml"/><Relationship Id="rId6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4.png"/><Relationship Id="rId3" Type="http://schemas.openxmlformats.org/officeDocument/2006/relationships/tags" Target="../tags/tag12.xml"/><Relationship Id="rId4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tags" Target="../tags/tag13.xml"/><Relationship Id="rId6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4.png"/><Relationship Id="rId3" Type="http://schemas.openxmlformats.org/officeDocument/2006/relationships/tags" Target="../tags/tag14.xml"/><Relationship Id="rId4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3.png"/><Relationship Id="rId6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62" name="图像" descr="图像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859499"/>
            <a:ext cx="12192001" cy="1067467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164" name="演示文稿标题文字微软雅黑粗体48"/>
          <p:cNvSpPr txBox="1"/>
          <p:nvPr/>
        </p:nvSpPr>
        <p:spPr>
          <a:xfrm>
            <a:off x="987107" y="2377711"/>
            <a:ext cx="10217785" cy="789960"/>
          </a:xfrm>
          <a:prstGeom prst="rect">
            <a:avLst/>
          </a:prstGeom>
          <a:ln w="12700">
            <a:miter lim="400000"/>
          </a:ln>
        </p:spPr>
        <p:txBody>
          <a:bodyPr wrap="square" lIns="25400" tIns="25400" rIns="25400" bIns="25400" anchor="ctr">
            <a:spAutoFit/>
          </a:bodyPr>
          <a:lstStyle>
            <a:lvl1pPr>
              <a:defRPr sz="6000">
                <a:solidFill>
                  <a:srgbClr val="FFFFFF"/>
                </a:solidFill>
                <a:latin typeface="MiSans Heavy" panose="00000A00000000000000" charset="-122"/>
                <a:ea typeface="MiSans Heavy" panose="00000A00000000000000" charset="-122"/>
                <a:cs typeface="MiSans Heavy" panose="00000A00000000000000" charset="-122"/>
                <a:sym typeface="MiSans Heavy" panose="00000A00000000000000" charset="-122"/>
              </a:defRPr>
            </a:lvl1pPr>
          </a:lstStyle>
          <a:p>
            <a:pPr algn="ctr"/>
            <a:r>
              <a:rPr sz="3600" b="1">
                <a:solidFill>
                  <a:srgbClr val="FFFFFF"/>
                </a:solidFill>
                <a:latin typeface="微软雅黑"/>
                <a:ea typeface="微软雅黑"/>
              </a:rPr>
              <a:t>向心力定量演示仪的传感器化改造</a:t>
            </a:r>
            <a:endParaRPr sz="4800" b="1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思源宋体 Heavy" panose="02020900000000000000" charset="-122"/>
            </a:endParaRPr>
          </a:p>
        </p:txBody>
      </p:sp>
      <p:sp>
        <p:nvSpPr>
          <p:cNvPr id="166" name="学校：XXXXXXXXX"/>
          <p:cNvSpPr txBox="1"/>
          <p:nvPr/>
        </p:nvSpPr>
        <p:spPr>
          <a:xfrm>
            <a:off x="4223792" y="3555903"/>
            <a:ext cx="4402559" cy="420628"/>
          </a:xfrm>
          <a:prstGeom prst="rect">
            <a:avLst/>
          </a:prstGeom>
          <a:ln w="12700">
            <a:miter lim="400000"/>
          </a:ln>
        </p:spPr>
        <p:txBody>
          <a:bodyPr wrap="square" lIns="25400" tIns="25400" rIns="25400" bIns="25400" anchor="ctr">
            <a:spAutoFit/>
          </a:bodyPr>
          <a:lstStyle>
            <a:lvl1pPr>
              <a:defRPr sz="6000">
                <a:solidFill>
                  <a:srgbClr val="FFFFFF"/>
                </a:solidFill>
                <a:latin typeface="MiSans Heavy" panose="00000A00000000000000" charset="-122"/>
                <a:ea typeface="MiSans Heavy" panose="00000A00000000000000" charset="-122"/>
                <a:cs typeface="MiSans Heavy" panose="00000A00000000000000" charset="-122"/>
                <a:sym typeface="MiSans Heavy" panose="00000A00000000000000" charset="-122"/>
              </a:defRPr>
            </a:lvl1pPr>
          </a:lstStyle>
          <a:p>
            <a:pPr algn="ctr"/>
            <a:r>
              <a:rPr sz="1800">
                <a:solidFill>
                  <a:srgbClr val="FFFFFF"/>
                </a:solidFill>
                <a:latin typeface="微软雅黑"/>
                <a:ea typeface="微软雅黑"/>
              </a:rPr>
              <a:t>张××（广州市××中学）</a:t>
            </a:r>
            <a:endParaRPr sz="24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思源宋体 Heavy" panose="02020900000000000000" charset="-122"/>
            </a:endParaRPr>
          </a:p>
        </p:txBody>
      </p:sp>
      <p:sp>
        <p:nvSpPr>
          <p:cNvPr id="5" name="学校：XXXXXXXXX"/>
          <p:cNvSpPr txBox="1"/>
          <p:nvPr/>
        </p:nvSpPr>
        <p:spPr>
          <a:xfrm>
            <a:off x="6400919" y="409762"/>
            <a:ext cx="5400599" cy="419735"/>
          </a:xfrm>
          <a:prstGeom prst="rect">
            <a:avLst/>
          </a:prstGeom>
          <a:ln w="12700">
            <a:miter lim="400000"/>
          </a:ln>
        </p:spPr>
        <p:txBody>
          <a:bodyPr wrap="square" lIns="25400" tIns="25400" rIns="25400" bIns="25400" anchor="ctr">
            <a:spAutoFit/>
          </a:bodyPr>
          <a:lstStyle>
            <a:lvl1pPr>
              <a:defRPr sz="6000">
                <a:solidFill>
                  <a:srgbClr val="FFFFFF"/>
                </a:solidFill>
                <a:latin typeface="MiSans Heavy" panose="00000A00000000000000" charset="-122"/>
                <a:ea typeface="MiSans Heavy" panose="00000A00000000000000" charset="-122"/>
                <a:cs typeface="MiSans Heavy" panose="00000A00000000000000" charset="-122"/>
                <a:sym typeface="MiSans Heavy" panose="00000A00000000000000" charset="-122"/>
              </a:defRPr>
            </a:lvl1pPr>
          </a:lstStyle>
          <a:p>
            <a:pPr algn="r"/>
            <a:r>
              <a:rPr lang="en-US" altLang="zh-CN" sz="2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思源宋体 Heavy" panose="02020900000000000000" charset="-122"/>
              </a:rPr>
              <a:t>2026</a:t>
            </a:r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思源宋体 Heavy" panose="02020900000000000000" charset="-122"/>
              </a:rPr>
              <a:t>年中小学实验教学能力展示活动</a:t>
            </a:r>
            <a:endParaRPr lang="zh-CN" altLang="en-US" sz="24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思源宋体 Heavy" panose="02020900000000000000" charset="-122"/>
            </a:endParaRPr>
          </a:p>
        </p:txBody>
      </p:sp>
      <p:sp>
        <p:nvSpPr>
          <p:cNvPr id="7" name="演示文稿标题文字微软雅黑粗体48"/>
          <p:cNvSpPr txBox="1"/>
          <p:nvPr/>
        </p:nvSpPr>
        <p:spPr>
          <a:xfrm>
            <a:off x="335360" y="1066811"/>
            <a:ext cx="2664296" cy="789960"/>
          </a:xfrm>
          <a:prstGeom prst="rect">
            <a:avLst/>
          </a:prstGeom>
          <a:ln w="12700">
            <a:miter lim="400000"/>
          </a:ln>
        </p:spPr>
        <p:txBody>
          <a:bodyPr wrap="square" lIns="25400" tIns="25400" rIns="25400" bIns="25400" anchor="ctr">
            <a:spAutoFit/>
          </a:bodyPr>
          <a:lstStyle>
            <a:lvl1pPr>
              <a:defRPr sz="6000">
                <a:solidFill>
                  <a:srgbClr val="FFFFFF"/>
                </a:solidFill>
                <a:latin typeface="MiSans Heavy" panose="00000A00000000000000" charset="-122"/>
                <a:ea typeface="MiSans Heavy" panose="00000A00000000000000" charset="-122"/>
                <a:cs typeface="MiSans Heavy" panose="00000A00000000000000" charset="-122"/>
                <a:sym typeface="MiSans Heavy" panose="00000A00000000000000" charset="-122"/>
              </a:defRPr>
            </a:lvl1pPr>
          </a:lstStyle>
          <a:p>
            <a:pPr algn="ctr"/>
            <a:r>
              <a:rPr sz="3600" b="1">
                <a:solidFill>
                  <a:srgbClr val="FFFFFF"/>
                </a:solidFill>
                <a:latin typeface="微软雅黑"/>
                <a:ea typeface="微软雅黑"/>
              </a:rPr>
              <a:t>高中物理</a:t>
            </a:r>
            <a:endParaRPr sz="4800" b="1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思源宋体 Heavy" panose="02020900000000000000" charset="-122"/>
            </a:endParaRPr>
          </a:p>
        </p:txBody>
      </p:sp>
      <p:pic>
        <p:nvPicPr>
          <p:cNvPr id="8" name="图片 7" descr="Frame 927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380" y="4759325"/>
            <a:ext cx="5422265" cy="108902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>
            <p:custDataLst>
              <p:tags r:id="rId1"/>
            </p:custDataLst>
          </p:nvPr>
        </p:nvSpPr>
        <p:spPr>
          <a:xfrm>
            <a:off x="1559748" y="1152884"/>
            <a:ext cx="5687537" cy="39693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0" fontAlgn="auto">
              <a:lnSpc>
                <a:spcPct val="150000"/>
              </a:lnSpc>
              <a:buFont typeface="+mj-lt"/>
              <a:buNone/>
            </a:pPr>
            <a:r>
              <a:rPr lang="en-US" altLang="zh-CN" sz="2800" b="1" dirty="0">
                <a:solidFill>
                  <a:srgbClr val="1242AB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01. </a:t>
            </a:r>
            <a:r>
              <a:rPr lang="zh-CN" altLang="en-US" sz="2800" b="1" dirty="0">
                <a:solidFill>
                  <a:srgbClr val="1242AB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实验基本信息</a:t>
            </a:r>
            <a:endParaRPr lang="zh-CN" altLang="en-US" sz="2800" b="1" dirty="0">
              <a:solidFill>
                <a:srgbClr val="1242AB"/>
              </a:solidFill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 fontAlgn="auto">
              <a:lnSpc>
                <a:spcPct val="150000"/>
              </a:lnSpc>
              <a:buFont typeface="+mj-lt"/>
              <a:buNone/>
            </a:pPr>
            <a:r>
              <a:rPr lang="en-US" altLang="zh-CN" sz="2800" b="1" dirty="0">
                <a:solidFill>
                  <a:srgbClr val="1242AB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02. </a:t>
            </a:r>
            <a:r>
              <a:rPr lang="zh-CN" altLang="en-US" sz="2800" b="1" dirty="0">
                <a:solidFill>
                  <a:srgbClr val="1242AB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实验设</a:t>
            </a:r>
            <a:r>
              <a:rPr lang="zh-CN" altLang="en-US" sz="2800" b="1" dirty="0">
                <a:solidFill>
                  <a:srgbClr val="1242AB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计思路与创新点</a:t>
            </a:r>
            <a:endParaRPr lang="zh-CN" altLang="en-US" sz="2800" b="1" dirty="0">
              <a:solidFill>
                <a:srgbClr val="1242AB"/>
              </a:solidFill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 fontAlgn="auto">
              <a:lnSpc>
                <a:spcPct val="150000"/>
              </a:lnSpc>
              <a:buFont typeface="+mj-lt"/>
              <a:buNone/>
            </a:pPr>
            <a:r>
              <a:rPr lang="en-US" altLang="zh-CN" sz="2800" b="1" dirty="0">
                <a:solidFill>
                  <a:srgbClr val="1242AB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03. </a:t>
            </a:r>
            <a:r>
              <a:rPr lang="zh-CN" altLang="en-US" sz="2800" b="1" dirty="0">
                <a:solidFill>
                  <a:srgbClr val="1242AB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实验原理</a:t>
            </a:r>
            <a:endParaRPr lang="zh-CN" altLang="en-US" sz="2800" b="1" dirty="0">
              <a:solidFill>
                <a:srgbClr val="1242AB"/>
              </a:solidFill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 fontAlgn="auto">
              <a:lnSpc>
                <a:spcPct val="150000"/>
              </a:lnSpc>
              <a:buFont typeface="+mj-lt"/>
              <a:buNone/>
            </a:pPr>
            <a:r>
              <a:rPr lang="en-US" altLang="zh-CN" sz="2800" b="1" dirty="0">
                <a:solidFill>
                  <a:srgbClr val="1242AB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04. </a:t>
            </a:r>
            <a:r>
              <a:rPr lang="zh-CN" altLang="en-US" sz="2800" b="1" dirty="0">
                <a:solidFill>
                  <a:srgbClr val="1242AB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实验目标</a:t>
            </a:r>
            <a:endParaRPr lang="zh-CN" altLang="en-US" sz="2800" b="1" dirty="0">
              <a:solidFill>
                <a:srgbClr val="1242AB"/>
              </a:solidFill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 fontAlgn="auto">
              <a:lnSpc>
                <a:spcPct val="150000"/>
              </a:lnSpc>
              <a:buFont typeface="+mj-lt"/>
              <a:buNone/>
            </a:pPr>
            <a:r>
              <a:rPr lang="en-US" altLang="zh-CN" sz="2800" b="1" dirty="0">
                <a:solidFill>
                  <a:srgbClr val="1242AB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05. </a:t>
            </a:r>
            <a:r>
              <a:rPr lang="zh-CN" altLang="en-US" sz="2800" b="1" dirty="0">
                <a:solidFill>
                  <a:srgbClr val="1242AB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教学过程</a:t>
            </a:r>
            <a:endParaRPr lang="zh-CN" altLang="en-US" sz="2800" b="1" dirty="0">
              <a:solidFill>
                <a:srgbClr val="1242AB"/>
              </a:solidFill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 fontAlgn="auto">
              <a:lnSpc>
                <a:spcPct val="150000"/>
              </a:lnSpc>
              <a:buFont typeface="+mj-lt"/>
              <a:buNone/>
            </a:pPr>
            <a:r>
              <a:rPr lang="en-US" altLang="zh-CN" sz="2800" b="1" dirty="0">
                <a:solidFill>
                  <a:srgbClr val="1242AB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06. </a:t>
            </a:r>
            <a:r>
              <a:rPr lang="zh-CN" altLang="en-US" sz="2800" b="1" dirty="0">
                <a:solidFill>
                  <a:srgbClr val="1242AB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实验效果评价</a:t>
            </a:r>
            <a:endParaRPr lang="zh-CN" altLang="en-US" sz="2800" b="1" dirty="0">
              <a:solidFill>
                <a:srgbClr val="1242AB"/>
              </a:solidFill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圆角矩形 2"/>
          <p:cNvSpPr/>
          <p:nvPr/>
        </p:nvSpPr>
        <p:spPr>
          <a:xfrm>
            <a:off x="1055370" y="1051560"/>
            <a:ext cx="8568690" cy="4277995"/>
          </a:xfrm>
          <a:prstGeom prst="roundRect">
            <a:avLst>
              <a:gd name="adj" fmla="val 7175"/>
            </a:avLst>
          </a:prstGeom>
          <a:noFill/>
          <a:ln w="12700">
            <a:solidFill>
              <a:srgbClr val="08AAF2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solidFill>
                  <a:srgbClr val="1242AB"/>
                </a:solidFill>
              </a:rPr>
              <a:t>                  </a:t>
            </a:r>
            <a:endParaRPr lang="en-US" altLang="zh-CN">
              <a:solidFill>
                <a:srgbClr val="1242AB"/>
              </a:solidFill>
            </a:endParaRPr>
          </a:p>
        </p:txBody>
      </p:sp>
      <p:pic>
        <p:nvPicPr>
          <p:cNvPr id="162" name="图像" descr="图像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859499"/>
            <a:ext cx="12192001" cy="1067467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5" name="图片 4" descr="Frame 9278 (1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50490" y="424740"/>
            <a:ext cx="1612860" cy="324000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  <p:transition spd="slow" advTm="22000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46990" y="2564765"/>
            <a:ext cx="12145010" cy="182372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indent="0" algn="ctr" fontAlgn="auto">
              <a:lnSpc>
                <a:spcPct val="130000"/>
              </a:lnSpc>
              <a:buFont typeface="+mj-lt"/>
              <a:buNone/>
            </a:pPr>
            <a:r>
              <a:rPr lang="zh-CN" altLang="en-US" sz="6600" b="1" spc="500" dirty="0">
                <a:solidFill>
                  <a:schemeClr val="bg1"/>
                </a:solidFill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实验基本信息</a:t>
            </a:r>
            <a:endParaRPr lang="zh-CN" altLang="en-US" sz="6600" b="1" spc="500" dirty="0">
              <a:solidFill>
                <a:schemeClr val="bg1"/>
              </a:solidFill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3575685" y="1557020"/>
            <a:ext cx="4898390" cy="11988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indent="0" algn="ctr" eaLnBrk="0" fontAlgn="auto" hangingPunct="0"/>
            <a:r>
              <a:rPr lang="en-US" altLang="zh-CN" sz="7200" b="1" dirty="0">
                <a:solidFill>
                  <a:srgbClr val="00B0F0"/>
                </a:solidFill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01</a:t>
            </a:r>
            <a:endParaRPr lang="en-US" altLang="zh-CN" sz="7200" b="1" dirty="0">
              <a:solidFill>
                <a:srgbClr val="00B0F0"/>
              </a:solidFill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pic>
        <p:nvPicPr>
          <p:cNvPr id="2" name="图片 1" descr="1 说课活动延展物料-17"/>
          <p:cNvPicPr>
            <a:picLocks noChangeAspect="1"/>
          </p:cNvPicPr>
          <p:nvPr/>
        </p:nvPicPr>
        <p:blipFill>
          <a:blip r:embed="rId2">
            <a:alphaModFix amt="60000"/>
          </a:blip>
          <a:stretch>
            <a:fillRect/>
          </a:stretch>
        </p:blipFill>
        <p:spPr>
          <a:xfrm>
            <a:off x="0" y="3550285"/>
            <a:ext cx="2784475" cy="3307715"/>
          </a:xfrm>
          <a:prstGeom prst="rect">
            <a:avLst/>
          </a:prstGeom>
        </p:spPr>
      </p:pic>
      <p:pic>
        <p:nvPicPr>
          <p:cNvPr id="4" name="图片 3" descr="1 说课活动延展物料-18"/>
          <p:cNvPicPr>
            <a:picLocks noChangeAspect="1"/>
          </p:cNvPicPr>
          <p:nvPr/>
        </p:nvPicPr>
        <p:blipFill>
          <a:blip r:embed="rId3">
            <a:alphaModFix amt="60000"/>
          </a:blip>
          <a:srcRect l="-1163" t="24645"/>
          <a:stretch>
            <a:fillRect/>
          </a:stretch>
        </p:blipFill>
        <p:spPr>
          <a:xfrm rot="16200000">
            <a:off x="-290195" y="265430"/>
            <a:ext cx="3308350" cy="2777490"/>
          </a:xfrm>
          <a:prstGeom prst="rect">
            <a:avLst/>
          </a:prstGeom>
        </p:spPr>
      </p:pic>
      <p:pic>
        <p:nvPicPr>
          <p:cNvPr id="189" name="图像" descr="图像"/>
          <p:cNvPicPr>
            <a:picLocks noChangeAspect="1"/>
          </p:cNvPicPr>
          <p:nvPr/>
        </p:nvPicPr>
        <p:blipFill>
          <a:blip r:embed="rId4">
            <a:alphaModFix amt="19907"/>
          </a:blip>
          <a:stretch>
            <a:fillRect/>
          </a:stretch>
        </p:blipFill>
        <p:spPr>
          <a:xfrm>
            <a:off x="8543290" y="727075"/>
            <a:ext cx="7526020" cy="6130925"/>
          </a:xfrm>
          <a:prstGeom prst="rect">
            <a:avLst/>
          </a:prstGeom>
          <a:ln w="12700">
            <a:miter lim="400000"/>
            <a:headEnd/>
            <a:tailEnd/>
          </a:ln>
        </p:spPr>
      </p:pic>
    </p:spTree>
    <p:custDataLst>
      <p:tags r:id="rId5"/>
    </p:custDataLst>
  </p:cSld>
  <p:clrMapOvr>
    <a:masterClrMapping/>
  </p:clrMapOvr>
  <p:transition spd="slow" advTm="22000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8" name="图像" descr="图像"/>
          <p:cNvPicPr>
            <a:picLocks noChangeAspect="1"/>
          </p:cNvPicPr>
          <p:nvPr/>
        </p:nvPicPr>
        <p:blipFill>
          <a:blip r:embed="rId1">
            <a:alphaModFix amt="15000"/>
          </a:blip>
          <a:stretch>
            <a:fillRect/>
          </a:stretch>
        </p:blipFill>
        <p:spPr>
          <a:xfrm>
            <a:off x="0" y="5859499"/>
            <a:ext cx="12192001" cy="1067467"/>
          </a:xfrm>
          <a:prstGeom prst="rect">
            <a:avLst/>
          </a:prstGeom>
          <a:ln w="12700">
            <a:miter lim="400000"/>
            <a:headEnd/>
            <a:tailEnd/>
          </a:ln>
        </p:spPr>
      </p:pic>
      <p:grpSp>
        <p:nvGrpSpPr>
          <p:cNvPr id="10" name="组合 9"/>
          <p:cNvGrpSpPr/>
          <p:nvPr/>
        </p:nvGrpSpPr>
        <p:grpSpPr>
          <a:xfrm>
            <a:off x="531495" y="394970"/>
            <a:ext cx="11057890" cy="467360"/>
            <a:chOff x="837" y="622"/>
            <a:chExt cx="17414" cy="736"/>
          </a:xfrm>
        </p:grpSpPr>
        <p:sp>
          <p:nvSpPr>
            <p:cNvPr id="2" name="幻灯片副标题"/>
            <p:cNvSpPr txBox="1"/>
            <p:nvPr/>
          </p:nvSpPr>
          <p:spPr>
            <a:xfrm>
              <a:off x="837" y="622"/>
              <a:ext cx="17300" cy="736"/>
            </a:xfrm>
            <a:prstGeom prst="rect">
              <a:avLst/>
            </a:prstGeom>
          </p:spPr>
          <p:txBody>
            <a:bodyPr vert="horz" lIns="45719" tIns="45719" rIns="45719" bIns="45719" rtlCol="0">
              <a:noAutofit/>
            </a:bodyPr>
            <a:lstStyle>
              <a:lvl1pPr marL="0" indent="0" algn="l" defTabSz="726440" rtl="0" eaLnBrk="1" latinLnBrk="0" hangingPunct="1">
                <a:lnSpc>
                  <a:spcPct val="100000"/>
                </a:lnSpc>
                <a:spcBef>
                  <a:spcPct val="0"/>
                </a:spcBef>
                <a:buSzTx/>
                <a:buFont typeface="Arial" panose="020B0604020202020204" pitchFamily="34" charset="0"/>
                <a:buNone/>
                <a:defRPr sz="242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>
                  <a:solidFill>
                    <a:srgbClr val="005493"/>
                  </a:solidFill>
                </a:defRPr>
              </a:pPr>
              <a:r>
                <a:rPr sz="2400" b="1">
                  <a:solidFill>
                    <a:srgbClr val="1A5276"/>
                  </a:solidFill>
                  <a:latin typeface="微软雅黑"/>
                  <a:ea typeface="微软雅黑"/>
                </a:rPr>
                <a:t>实验基本信息</a:t>
              </a:r>
              <a:endParaRPr lang="en-US" altLang="zh-CN" sz="2400">
                <a:solidFill>
                  <a:srgbClr val="00B0F0"/>
                </a:solidFill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</a:endParaRPr>
            </a:p>
          </p:txBody>
        </p:sp>
        <p:sp>
          <p:nvSpPr>
            <p:cNvPr id="4" name="线条"/>
            <p:cNvSpPr/>
            <p:nvPr/>
          </p:nvSpPr>
          <p:spPr>
            <a:xfrm>
              <a:off x="949" y="1347"/>
              <a:ext cx="17303" cy="0"/>
            </a:xfrm>
            <a:prstGeom prst="line">
              <a:avLst/>
            </a:prstGeom>
            <a:ln w="25400">
              <a:solidFill>
                <a:srgbClr val="00B0F0"/>
              </a:solidFill>
              <a:miter lim="400000"/>
            </a:ln>
          </p:spPr>
          <p:txBody>
            <a:bodyPr lIns="25400" tIns="25400" rIns="25400" bIns="25400" anchor="ctr"/>
            <a:lstStyle/>
            <a:p>
              <a:endParaRPr sz="900">
                <a:sym typeface="微软雅黑" panose="020B0503020204020204" charset="-122"/>
              </a:endParaRPr>
            </a:p>
          </p:txBody>
        </p:sp>
        <p:pic>
          <p:nvPicPr>
            <p:cNvPr id="8" name="图片 7" descr="Frame 9278 (1)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5670" y="669"/>
              <a:ext cx="2540" cy="510"/>
            </a:xfrm>
            <a:prstGeom prst="rect">
              <a:avLst/>
            </a:prstGeom>
          </p:spPr>
        </p:pic>
      </p:grpSp>
      <p:sp>
        <p:nvSpPr>
          <p:cNvPr id="179" name="TextBox 178"/>
          <p:cNvSpPr txBox="1"/>
          <p:nvPr/>
        </p:nvSpPr>
        <p:spPr>
          <a:xfrm>
            <a:off x="571500" y="1143000"/>
            <a:ext cx="5334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>
                <a:solidFill>
                  <a:srgbClr val="333333"/>
                </a:solidFill>
                <a:latin typeface="微软雅黑"/>
                <a:ea typeface="微软雅黑"/>
              </a:rPr>
              <a:t>■ 使用教材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333333"/>
                </a:solidFill>
                <a:latin typeface="微软雅黑"/>
                <a:ea typeface="微软雅黑"/>
              </a:rPr>
              <a:t>人教版《物理》必修第二册（2019版）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333333"/>
                </a:solidFill>
                <a:latin typeface="微软雅黑"/>
                <a:ea typeface="微软雅黑"/>
              </a:rPr>
              <a:t>第六章《圆周运动》第2节 向心力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333333"/>
                </a:solidFill>
                <a:latin typeface="微软雅黑"/>
                <a:ea typeface="微软雅黑"/>
              </a:rPr>
              <a:t/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333333"/>
                </a:solidFill>
                <a:latin typeface="微软雅黑"/>
                <a:ea typeface="微软雅黑"/>
              </a:rPr>
              <a:t>■ 适用学段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333333"/>
                </a:solidFill>
                <a:latin typeface="微软雅黑"/>
                <a:ea typeface="微软雅黑"/>
              </a:rPr>
              <a:t>高中一年级下学期  1课时40分钟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333333"/>
                </a:solidFill>
                <a:latin typeface="微软雅黑"/>
                <a:ea typeface="微软雅黑"/>
              </a:rPr>
              <a:t/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333333"/>
                </a:solidFill>
                <a:latin typeface="微软雅黑"/>
                <a:ea typeface="微软雅黑"/>
              </a:rPr>
              <a:t>■ 对应课标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333333"/>
                </a:solidFill>
                <a:latin typeface="微软雅黑"/>
                <a:ea typeface="微软雅黑"/>
              </a:rPr>
              <a:t>主题：机械运动与物理观念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333333"/>
                </a:solidFill>
                <a:latin typeface="微软雅黑"/>
                <a:ea typeface="微软雅黑"/>
              </a:rPr>
              <a:t>核心素养：物理观念·科学思维·探究·态度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333333"/>
                </a:solidFill>
                <a:latin typeface="微软雅黑"/>
                <a:ea typeface="微软雅黑"/>
              </a:rPr>
              <a:t/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333333"/>
                </a:solidFill>
                <a:latin typeface="微软雅黑"/>
                <a:ea typeface="微软雅黑"/>
              </a:rPr>
              <a:t>■ 教材定位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333333"/>
                </a:solidFill>
                <a:latin typeface="微软雅黑"/>
                <a:ea typeface="微软雅黑"/>
              </a:rPr>
              <a:t>在"做一做"感受向心力基础上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333333"/>
                </a:solidFill>
                <a:latin typeface="微软雅黑"/>
                <a:ea typeface="微软雅黑"/>
              </a:rPr>
              <a:t>升级为可定量验证的探究性实验</a:t>
            </a:r>
          </a:p>
        </p:txBody>
      </p:sp>
      <p:sp>
        <p:nvSpPr>
          <p:cNvPr id="180" name="TextBox 179"/>
          <p:cNvSpPr txBox="1"/>
          <p:nvPr/>
        </p:nvSpPr>
        <p:spPr>
          <a:xfrm>
            <a:off x="6096000" y="1143000"/>
            <a:ext cx="5334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>
                <a:solidFill>
                  <a:srgbClr val="333333"/>
                </a:solidFill>
                <a:latin typeface="微软雅黑"/>
                <a:ea typeface="微软雅黑"/>
              </a:rPr>
              <a:t>■ 教师演示版器材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333333"/>
                </a:solidFill>
                <a:latin typeface="微软雅黑"/>
                <a:ea typeface="微软雅黑"/>
              </a:rPr>
              <a:t>3D打印转台 + S型拉压力传感器(20N)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333333"/>
                </a:solidFill>
                <a:latin typeface="微软雅黑"/>
                <a:ea typeface="微软雅黑"/>
              </a:rPr>
              <a:t>HX711模块(24位ADC) + 红外光电门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333333"/>
                </a:solidFill>
                <a:latin typeface="微软雅黑"/>
                <a:ea typeface="微软雅黑"/>
              </a:rPr>
              <a:t>ESP32开发板(蓝牙) + 手机APP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333333"/>
                </a:solidFill>
                <a:latin typeface="微软雅黑"/>
                <a:ea typeface="微软雅黑"/>
              </a:rPr>
              <a:t>直流调速电机 + 稳压电源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333333"/>
                </a:solidFill>
                <a:latin typeface="微软雅黑"/>
                <a:ea typeface="微软雅黑"/>
              </a:rPr>
              <a:t>游标卡尺 + 电子天平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333333"/>
                </a:solidFill>
                <a:latin typeface="微软雅黑"/>
                <a:ea typeface="微软雅黑"/>
              </a:rPr>
              <a:t/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333333"/>
                </a:solidFill>
                <a:latin typeface="微软雅黑"/>
                <a:ea typeface="微软雅黑"/>
              </a:rPr>
              <a:t>■ 学生分组版（每组4人）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333333"/>
                </a:solidFill>
                <a:latin typeface="微软雅黑"/>
                <a:ea typeface="微软雅黑"/>
              </a:rPr>
              <a:t>微型手动转台 + HX711 + 光电门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333333"/>
                </a:solidFill>
                <a:latin typeface="微软雅黑"/>
                <a:ea typeface="微软雅黑"/>
              </a:rPr>
              <a:t>ESP32 + 手机 + 滑块3档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333333"/>
                </a:solidFill>
                <a:latin typeface="微软雅黑"/>
                <a:ea typeface="微软雅黑"/>
              </a:rPr>
              <a:t>(50g/100g/150g) + 游标卡尺</a:t>
            </a:r>
          </a:p>
        </p:txBody>
      </p:sp>
      <p:sp>
        <p:nvSpPr>
          <p:cNvPr id="181" name="TextBox 180"/>
          <p:cNvSpPr txBox="1"/>
          <p:nvPr/>
        </p:nvSpPr>
        <p:spPr>
          <a:xfrm>
            <a:off x="10287000" y="6381750"/>
            <a:ext cx="1714500" cy="2857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999999"/>
                </a:solidFill>
                <a:latin typeface="微软雅黑"/>
                <a:ea typeface="微软雅黑"/>
              </a:rPr>
              <a:t>🎬 00:30-01:30</a:t>
            </a:r>
          </a:p>
        </p:txBody>
      </p:sp>
    </p:spTree>
    <p:custDataLst>
      <p:tags r:id="rId3"/>
    </p:custDataLst>
  </p:cSld>
  <p:clrMapOvr>
    <a:masterClrMapping/>
  </p:clrMapOvr>
  <p:transition spd="slow" advTm="22000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46990" y="2564765"/>
            <a:ext cx="12145010" cy="182372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indent="0" algn="ctr" fontAlgn="auto">
              <a:lnSpc>
                <a:spcPct val="130000"/>
              </a:lnSpc>
              <a:buFont typeface="+mj-lt"/>
              <a:buNone/>
            </a:pPr>
            <a:r>
              <a:rPr lang="zh-CN" altLang="en-US" sz="6600" b="1" spc="500" dirty="0">
                <a:solidFill>
                  <a:schemeClr val="bg1"/>
                </a:solidFill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实验设计思路与创新点</a:t>
            </a:r>
            <a:endParaRPr lang="zh-CN" altLang="en-US" sz="6600" b="1" spc="500" dirty="0">
              <a:solidFill>
                <a:schemeClr val="bg1"/>
              </a:solidFill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3575685" y="1557020"/>
            <a:ext cx="4898390" cy="11988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indent="0" algn="ctr" eaLnBrk="0" fontAlgn="auto" hangingPunct="0"/>
            <a:r>
              <a:rPr lang="en-US" altLang="zh-CN" sz="7200" b="1" dirty="0">
                <a:solidFill>
                  <a:srgbClr val="00B0F0"/>
                </a:solidFill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02</a:t>
            </a:r>
            <a:endParaRPr lang="en-US" altLang="zh-CN" sz="7200" b="1" dirty="0">
              <a:solidFill>
                <a:srgbClr val="00B0F0"/>
              </a:solidFill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pic>
        <p:nvPicPr>
          <p:cNvPr id="2" name="图片 1" descr="1 说课活动延展物料-17"/>
          <p:cNvPicPr>
            <a:picLocks noChangeAspect="1"/>
          </p:cNvPicPr>
          <p:nvPr/>
        </p:nvPicPr>
        <p:blipFill>
          <a:blip r:embed="rId2">
            <a:alphaModFix amt="60000"/>
          </a:blip>
          <a:stretch>
            <a:fillRect/>
          </a:stretch>
        </p:blipFill>
        <p:spPr>
          <a:xfrm>
            <a:off x="0" y="3550285"/>
            <a:ext cx="2784475" cy="3307715"/>
          </a:xfrm>
          <a:prstGeom prst="rect">
            <a:avLst/>
          </a:prstGeom>
        </p:spPr>
      </p:pic>
      <p:pic>
        <p:nvPicPr>
          <p:cNvPr id="4" name="图片 3" descr="1 说课活动延展物料-18"/>
          <p:cNvPicPr>
            <a:picLocks noChangeAspect="1"/>
          </p:cNvPicPr>
          <p:nvPr/>
        </p:nvPicPr>
        <p:blipFill>
          <a:blip r:embed="rId3">
            <a:alphaModFix amt="60000"/>
          </a:blip>
          <a:srcRect l="-1163" t="24645"/>
          <a:stretch>
            <a:fillRect/>
          </a:stretch>
        </p:blipFill>
        <p:spPr>
          <a:xfrm rot="16200000">
            <a:off x="-290195" y="265430"/>
            <a:ext cx="3308350" cy="2777490"/>
          </a:xfrm>
          <a:prstGeom prst="rect">
            <a:avLst/>
          </a:prstGeom>
        </p:spPr>
      </p:pic>
      <p:pic>
        <p:nvPicPr>
          <p:cNvPr id="189" name="图像" descr="图像"/>
          <p:cNvPicPr>
            <a:picLocks noChangeAspect="1"/>
          </p:cNvPicPr>
          <p:nvPr/>
        </p:nvPicPr>
        <p:blipFill>
          <a:blip r:embed="rId4">
            <a:alphaModFix amt="19907"/>
          </a:blip>
          <a:stretch>
            <a:fillRect/>
          </a:stretch>
        </p:blipFill>
        <p:spPr>
          <a:xfrm>
            <a:off x="8543290" y="727075"/>
            <a:ext cx="7526020" cy="6130925"/>
          </a:xfrm>
          <a:prstGeom prst="rect">
            <a:avLst/>
          </a:prstGeom>
          <a:ln w="12700">
            <a:miter lim="400000"/>
            <a:headEnd/>
            <a:tailEnd/>
          </a:ln>
        </p:spPr>
      </p:pic>
    </p:spTree>
    <p:custDataLst>
      <p:tags r:id="rId5"/>
    </p:custDataLst>
  </p:cSld>
  <p:clrMapOvr>
    <a:masterClrMapping/>
  </p:clrMapOvr>
  <p:transition spd="slow" advTm="22000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8" name="图像" descr="图像"/>
          <p:cNvPicPr>
            <a:picLocks noChangeAspect="1"/>
          </p:cNvPicPr>
          <p:nvPr/>
        </p:nvPicPr>
        <p:blipFill>
          <a:blip r:embed="rId1">
            <a:alphaModFix amt="15000"/>
          </a:blip>
          <a:stretch>
            <a:fillRect/>
          </a:stretch>
        </p:blipFill>
        <p:spPr>
          <a:xfrm>
            <a:off x="0" y="5859499"/>
            <a:ext cx="12192001" cy="1067467"/>
          </a:xfrm>
          <a:prstGeom prst="rect">
            <a:avLst/>
          </a:prstGeom>
          <a:ln w="12700">
            <a:miter lim="400000"/>
            <a:headEnd/>
            <a:tailEnd/>
          </a:ln>
        </p:spPr>
      </p:pic>
      <p:grpSp>
        <p:nvGrpSpPr>
          <p:cNvPr id="10" name="组合 9"/>
          <p:cNvGrpSpPr/>
          <p:nvPr/>
        </p:nvGrpSpPr>
        <p:grpSpPr>
          <a:xfrm>
            <a:off x="531495" y="394970"/>
            <a:ext cx="11057890" cy="467360"/>
            <a:chOff x="837" y="622"/>
            <a:chExt cx="17414" cy="736"/>
          </a:xfrm>
        </p:grpSpPr>
        <p:sp>
          <p:nvSpPr>
            <p:cNvPr id="2" name="幻灯片副标题"/>
            <p:cNvSpPr txBox="1"/>
            <p:nvPr/>
          </p:nvSpPr>
          <p:spPr>
            <a:xfrm>
              <a:off x="837" y="622"/>
              <a:ext cx="17300" cy="736"/>
            </a:xfrm>
            <a:prstGeom prst="rect">
              <a:avLst/>
            </a:prstGeom>
          </p:spPr>
          <p:txBody>
            <a:bodyPr vert="horz" lIns="45719" tIns="45719" rIns="45719" bIns="45719" rtlCol="0">
              <a:noAutofit/>
            </a:bodyPr>
            <a:lstStyle>
              <a:lvl1pPr marL="0" indent="0" algn="l" defTabSz="726440" rtl="0" eaLnBrk="1" latinLnBrk="0" hangingPunct="1">
                <a:lnSpc>
                  <a:spcPct val="100000"/>
                </a:lnSpc>
                <a:spcBef>
                  <a:spcPct val="0"/>
                </a:spcBef>
                <a:buSzTx/>
                <a:buFont typeface="Arial" panose="020B0604020202020204" pitchFamily="34" charset="0"/>
                <a:buNone/>
                <a:defRPr sz="242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>
                  <a:solidFill>
                    <a:srgbClr val="005493"/>
                  </a:solidFill>
                </a:defRPr>
              </a:pPr>
              <a:r>
                <a:rPr sz="2400" b="1">
                  <a:solidFill>
                    <a:srgbClr val="1A5276"/>
                  </a:solidFill>
                  <a:latin typeface="微软雅黑"/>
                  <a:ea typeface="微软雅黑"/>
                </a:rPr>
                <a:t>实验设计思路与创新点</a:t>
              </a:r>
              <a:endParaRPr lang="en-US" altLang="zh-CN" sz="2400">
                <a:solidFill>
                  <a:srgbClr val="00B0F0"/>
                </a:solidFill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</a:endParaRPr>
            </a:p>
          </p:txBody>
        </p:sp>
        <p:sp>
          <p:nvSpPr>
            <p:cNvPr id="4" name="线条"/>
            <p:cNvSpPr/>
            <p:nvPr/>
          </p:nvSpPr>
          <p:spPr>
            <a:xfrm>
              <a:off x="949" y="1347"/>
              <a:ext cx="17303" cy="0"/>
            </a:xfrm>
            <a:prstGeom prst="line">
              <a:avLst/>
            </a:prstGeom>
            <a:ln w="25400">
              <a:solidFill>
                <a:srgbClr val="00B0F0"/>
              </a:solidFill>
              <a:miter lim="400000"/>
            </a:ln>
          </p:spPr>
          <p:txBody>
            <a:bodyPr lIns="25400" tIns="25400" rIns="25400" bIns="25400" anchor="ctr"/>
            <a:lstStyle/>
            <a:p>
              <a:endParaRPr sz="900">
                <a:sym typeface="微软雅黑" panose="020B0503020204020204" charset="-122"/>
              </a:endParaRPr>
            </a:p>
          </p:txBody>
        </p:sp>
        <p:pic>
          <p:nvPicPr>
            <p:cNvPr id="8" name="图片 7" descr="Frame 9278 (1)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5670" y="669"/>
              <a:ext cx="2540" cy="510"/>
            </a:xfrm>
            <a:prstGeom prst="rect">
              <a:avLst/>
            </a:prstGeom>
          </p:spPr>
        </p:pic>
      </p:grpSp>
      <p:sp>
        <p:nvSpPr>
          <p:cNvPr id="179" name="TextBox 178"/>
          <p:cNvSpPr txBox="1"/>
          <p:nvPr/>
        </p:nvSpPr>
        <p:spPr>
          <a:xfrm>
            <a:off x="571500" y="1143000"/>
            <a:ext cx="5334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>
                <a:solidFill>
                  <a:srgbClr val="C0392B"/>
                </a:solidFill>
                <a:latin typeface="微软雅黑"/>
                <a:ea typeface="微软雅黑"/>
              </a:rPr>
              <a:t>■ 传统演示仪痛点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C0392B"/>
                </a:solidFill>
                <a:latin typeface="微软雅黑"/>
                <a:ea typeface="微软雅黑"/>
              </a:rPr>
              <a:t>1. 弹簧测力计读数模糊，只能定性感受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C0392B"/>
                </a:solidFill>
                <a:latin typeface="微软雅黑"/>
                <a:ea typeface="微软雅黑"/>
              </a:rPr>
              <a:t>2. 无法同时测F、m、r、ω四个变量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C0392B"/>
                </a:solidFill>
                <a:latin typeface="微软雅黑"/>
                <a:ea typeface="微软雅黑"/>
              </a:rPr>
              <a:t>3. 无法定量验证 F=mrω² 三变量关系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C0392B"/>
                </a:solidFill>
                <a:latin typeface="微软雅黑"/>
                <a:ea typeface="微软雅黑"/>
              </a:rPr>
              <a:t>4. 学生"看"而不"测"，缺数据探究环节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C0392B"/>
                </a:solidFill>
                <a:latin typeface="微软雅黑"/>
                <a:ea typeface="微软雅黑"/>
              </a:rPr>
              <a:t/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C0392B"/>
                </a:solidFill>
                <a:latin typeface="微软雅黑"/>
                <a:ea typeface="微软雅黑"/>
              </a:rPr>
              <a:t>■ 改进要点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C0392B"/>
                </a:solidFill>
                <a:latin typeface="微软雅黑"/>
                <a:ea typeface="微软雅黑"/>
              </a:rPr>
              <a:t>1. 压力传感器替代弹簧测力计，精度0.01N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C0392B"/>
                </a:solidFill>
                <a:latin typeface="微软雅黑"/>
                <a:ea typeface="微软雅黑"/>
              </a:rPr>
              <a:t>2. 光电门测周期T → ω = 2π/T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C0392B"/>
                </a:solidFill>
                <a:latin typeface="微软雅黑"/>
                <a:ea typeface="微软雅黑"/>
              </a:rPr>
              <a:t>3. ESP32蓝牙实时传输，APP同步绘图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C0392B"/>
                </a:solidFill>
                <a:latin typeface="微软雅黑"/>
                <a:ea typeface="微软雅黑"/>
              </a:rPr>
              <a:t>4. 3D打印臂+滑块，10秒换档调半径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C0392B"/>
                </a:solidFill>
                <a:latin typeface="微软雅黑"/>
                <a:ea typeface="微软雅黑"/>
              </a:rPr>
              <a:t>5. 控制变量法三组定量验证</a:t>
            </a:r>
          </a:p>
        </p:txBody>
      </p:sp>
      <p:sp>
        <p:nvSpPr>
          <p:cNvPr id="180" name="Rectangle 179"/>
          <p:cNvSpPr/>
          <p:nvPr/>
        </p:nvSpPr>
        <p:spPr>
          <a:xfrm>
            <a:off x="6096000" y="1238250"/>
            <a:ext cx="5334000" cy="1905000"/>
          </a:xfrm>
          <a:prstGeom prst="rect">
            <a:avLst/>
          </a:prstGeom>
          <a:noFill/>
          <a:ln w="19050">
            <a:solidFill>
              <a:srgbClr val="999999"/>
            </a:solidFill>
            <a:prstDash val="lg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>
                <a:solidFill>
                  <a:srgbClr val="999999"/>
                </a:solidFill>
                <a:latin typeface="微软雅黑"/>
                <a:ea typeface="微软雅黑"/>
              </a:rPr>
              <a:t>📷 传统演示仪对比照片</a:t>
            </a:r>
          </a:p>
          <a:p>
            <a:pPr algn="ctr"/>
            <a:r>
              <a:rPr sz="1000">
                <a:solidFill>
                  <a:srgbClr val="BBBBBB"/>
                </a:solidFill>
                <a:latin typeface="微软雅黑"/>
              </a:rPr>
              <a:t>尺寸 560×200pt</a:t>
            </a:r>
          </a:p>
        </p:txBody>
      </p:sp>
      <p:sp>
        <p:nvSpPr>
          <p:cNvPr id="181" name="Rectangle 180"/>
          <p:cNvSpPr/>
          <p:nvPr/>
        </p:nvSpPr>
        <p:spPr>
          <a:xfrm>
            <a:off x="6096000" y="3333750"/>
            <a:ext cx="5334000" cy="1905000"/>
          </a:xfrm>
          <a:prstGeom prst="rect">
            <a:avLst/>
          </a:prstGeom>
          <a:noFill/>
          <a:ln w="19050">
            <a:solidFill>
              <a:srgbClr val="999999"/>
            </a:solidFill>
            <a:prstDash val="lg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>
                <a:solidFill>
                  <a:srgbClr val="999999"/>
                </a:solidFill>
                <a:latin typeface="微软雅黑"/>
                <a:ea typeface="微软雅黑"/>
              </a:rPr>
              <a:t>📷 自制装置特写</a:t>
            </a:r>
          </a:p>
          <a:p>
            <a:pPr algn="ctr"/>
            <a:r>
              <a:rPr sz="1000">
                <a:solidFill>
                  <a:srgbClr val="BBBBBB"/>
                </a:solidFill>
                <a:latin typeface="微软雅黑"/>
              </a:rPr>
              <a:t>尺寸 560×200pt</a:t>
            </a:r>
          </a:p>
        </p:txBody>
      </p:sp>
      <p:sp>
        <p:nvSpPr>
          <p:cNvPr id="182" name="TextBox 181"/>
          <p:cNvSpPr txBox="1"/>
          <p:nvPr/>
        </p:nvSpPr>
        <p:spPr>
          <a:xfrm>
            <a:off x="10287000" y="6381750"/>
            <a:ext cx="1714500" cy="2857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999999"/>
                </a:solidFill>
                <a:latin typeface="微软雅黑"/>
                <a:ea typeface="微软雅黑"/>
              </a:rPr>
              <a:t>🎬 01:30-03:00</a:t>
            </a:r>
          </a:p>
        </p:txBody>
      </p:sp>
    </p:spTree>
    <p:custDataLst>
      <p:tags r:id="rId3"/>
    </p:custDataLst>
  </p:cSld>
  <p:clrMapOvr>
    <a:masterClrMapping/>
  </p:clrMapOvr>
  <p:transition spd="slow" advTm="22000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46990" y="2564765"/>
            <a:ext cx="12145010" cy="182372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indent="0" algn="ctr" fontAlgn="auto">
              <a:lnSpc>
                <a:spcPct val="130000"/>
              </a:lnSpc>
              <a:buFont typeface="+mj-lt"/>
              <a:buNone/>
            </a:pPr>
            <a:r>
              <a:rPr lang="zh-CN" altLang="en-US" sz="6600" b="1" spc="500" dirty="0">
                <a:solidFill>
                  <a:schemeClr val="bg1"/>
                </a:solidFill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实验原理</a:t>
            </a:r>
            <a:r>
              <a:rPr lang="en-US" altLang="zh-CN" sz="6600" b="1" spc="500" dirty="0">
                <a:solidFill>
                  <a:schemeClr val="bg1"/>
                </a:solidFill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/</a:t>
            </a:r>
            <a:r>
              <a:rPr lang="zh-CN" altLang="en-US" sz="6600" b="1" spc="500" dirty="0">
                <a:solidFill>
                  <a:schemeClr val="bg1"/>
                </a:solidFill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实验设计思路</a:t>
            </a:r>
            <a:endParaRPr lang="zh-CN" altLang="en-US" sz="6600" b="1" spc="500" dirty="0">
              <a:solidFill>
                <a:schemeClr val="bg1"/>
              </a:solidFill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3575685" y="1557020"/>
            <a:ext cx="4898390" cy="11988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indent="0" algn="ctr" eaLnBrk="0" fontAlgn="auto" hangingPunct="0"/>
            <a:r>
              <a:rPr lang="en-US" altLang="zh-CN" sz="7200" b="1" dirty="0">
                <a:solidFill>
                  <a:srgbClr val="08AAF2"/>
                </a:solidFill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03</a:t>
            </a:r>
            <a:endParaRPr lang="en-US" altLang="zh-CN" sz="7200" b="1" dirty="0">
              <a:solidFill>
                <a:srgbClr val="08AAF2"/>
              </a:solidFill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pic>
        <p:nvPicPr>
          <p:cNvPr id="2" name="图片 1" descr="1 说课活动延展物料-17"/>
          <p:cNvPicPr>
            <a:picLocks noChangeAspect="1"/>
          </p:cNvPicPr>
          <p:nvPr/>
        </p:nvPicPr>
        <p:blipFill>
          <a:blip r:embed="rId2">
            <a:alphaModFix amt="60000"/>
          </a:blip>
          <a:stretch>
            <a:fillRect/>
          </a:stretch>
        </p:blipFill>
        <p:spPr>
          <a:xfrm>
            <a:off x="0" y="3550285"/>
            <a:ext cx="2784475" cy="3307715"/>
          </a:xfrm>
          <a:prstGeom prst="rect">
            <a:avLst/>
          </a:prstGeom>
        </p:spPr>
      </p:pic>
      <p:pic>
        <p:nvPicPr>
          <p:cNvPr id="4" name="图片 3" descr="1 说课活动延展物料-18"/>
          <p:cNvPicPr>
            <a:picLocks noChangeAspect="1"/>
          </p:cNvPicPr>
          <p:nvPr/>
        </p:nvPicPr>
        <p:blipFill>
          <a:blip r:embed="rId3">
            <a:alphaModFix amt="60000"/>
          </a:blip>
          <a:srcRect l="-1163" t="24645"/>
          <a:stretch>
            <a:fillRect/>
          </a:stretch>
        </p:blipFill>
        <p:spPr>
          <a:xfrm rot="16200000">
            <a:off x="-290195" y="265430"/>
            <a:ext cx="3308350" cy="2777490"/>
          </a:xfrm>
          <a:prstGeom prst="rect">
            <a:avLst/>
          </a:prstGeom>
        </p:spPr>
      </p:pic>
      <p:pic>
        <p:nvPicPr>
          <p:cNvPr id="189" name="图像" descr="图像"/>
          <p:cNvPicPr>
            <a:picLocks noChangeAspect="1"/>
          </p:cNvPicPr>
          <p:nvPr/>
        </p:nvPicPr>
        <p:blipFill>
          <a:blip r:embed="rId4">
            <a:alphaModFix amt="19907"/>
          </a:blip>
          <a:stretch>
            <a:fillRect/>
          </a:stretch>
        </p:blipFill>
        <p:spPr>
          <a:xfrm>
            <a:off x="8543290" y="727075"/>
            <a:ext cx="7526020" cy="6130925"/>
          </a:xfrm>
          <a:prstGeom prst="rect">
            <a:avLst/>
          </a:prstGeom>
          <a:ln w="12700">
            <a:miter lim="400000"/>
            <a:headEnd/>
            <a:tailEnd/>
          </a:ln>
        </p:spPr>
      </p:pic>
    </p:spTree>
    <p:custDataLst>
      <p:tags r:id="rId5"/>
    </p:custDataLst>
  </p:cSld>
  <p:clrMapOvr>
    <a:masterClrMapping/>
  </p:clrMapOvr>
  <p:transition spd="slow" advTm="22000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8" name="图像" descr="图像"/>
          <p:cNvPicPr>
            <a:picLocks noChangeAspect="1"/>
          </p:cNvPicPr>
          <p:nvPr/>
        </p:nvPicPr>
        <p:blipFill>
          <a:blip r:embed="rId1">
            <a:alphaModFix amt="15000"/>
          </a:blip>
          <a:stretch>
            <a:fillRect/>
          </a:stretch>
        </p:blipFill>
        <p:spPr>
          <a:xfrm>
            <a:off x="0" y="5859499"/>
            <a:ext cx="12192001" cy="1067467"/>
          </a:xfrm>
          <a:prstGeom prst="rect">
            <a:avLst/>
          </a:prstGeom>
          <a:ln w="12700">
            <a:miter lim="400000"/>
            <a:headEnd/>
            <a:tailEnd/>
          </a:ln>
        </p:spPr>
      </p:pic>
      <p:grpSp>
        <p:nvGrpSpPr>
          <p:cNvPr id="10" name="组合 9"/>
          <p:cNvGrpSpPr/>
          <p:nvPr/>
        </p:nvGrpSpPr>
        <p:grpSpPr>
          <a:xfrm>
            <a:off x="531495" y="394970"/>
            <a:ext cx="11057890" cy="467360"/>
            <a:chOff x="837" y="622"/>
            <a:chExt cx="17414" cy="736"/>
          </a:xfrm>
        </p:grpSpPr>
        <p:sp>
          <p:nvSpPr>
            <p:cNvPr id="2" name="幻灯片副标题"/>
            <p:cNvSpPr txBox="1"/>
            <p:nvPr/>
          </p:nvSpPr>
          <p:spPr>
            <a:xfrm>
              <a:off x="837" y="622"/>
              <a:ext cx="17300" cy="736"/>
            </a:xfrm>
            <a:prstGeom prst="rect">
              <a:avLst/>
            </a:prstGeom>
          </p:spPr>
          <p:txBody>
            <a:bodyPr vert="horz" lIns="45719" tIns="45719" rIns="45719" bIns="45719" rtlCol="0">
              <a:noAutofit/>
            </a:bodyPr>
            <a:lstStyle>
              <a:lvl1pPr marL="0" indent="0" algn="l" defTabSz="726440" rtl="0" eaLnBrk="1" latinLnBrk="0" hangingPunct="1">
                <a:lnSpc>
                  <a:spcPct val="100000"/>
                </a:lnSpc>
                <a:spcBef>
                  <a:spcPct val="0"/>
                </a:spcBef>
                <a:buSzTx/>
                <a:buFont typeface="Arial" panose="020B0604020202020204" pitchFamily="34" charset="0"/>
                <a:buNone/>
                <a:defRPr sz="242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>
                  <a:solidFill>
                    <a:srgbClr val="005493"/>
                  </a:solidFill>
                </a:defRPr>
              </a:pPr>
              <a:r>
                <a:rPr sz="2400" b="1">
                  <a:solidFill>
                    <a:srgbClr val="1A5276"/>
                  </a:solidFill>
                  <a:latin typeface="微软雅黑"/>
                  <a:ea typeface="微软雅黑"/>
                </a:rPr>
                <a:t>实验原理</a:t>
              </a:r>
              <a:endParaRPr lang="en-US" altLang="zh-CN" sz="2400">
                <a:solidFill>
                  <a:srgbClr val="00B0F0"/>
                </a:solidFill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</a:endParaRPr>
            </a:p>
          </p:txBody>
        </p:sp>
        <p:sp>
          <p:nvSpPr>
            <p:cNvPr id="4" name="线条"/>
            <p:cNvSpPr/>
            <p:nvPr/>
          </p:nvSpPr>
          <p:spPr>
            <a:xfrm>
              <a:off x="949" y="1347"/>
              <a:ext cx="17303" cy="0"/>
            </a:xfrm>
            <a:prstGeom prst="line">
              <a:avLst/>
            </a:prstGeom>
            <a:ln w="25400">
              <a:solidFill>
                <a:srgbClr val="00B0F0"/>
              </a:solidFill>
              <a:miter lim="400000"/>
            </a:ln>
          </p:spPr>
          <p:txBody>
            <a:bodyPr lIns="25400" tIns="25400" rIns="25400" bIns="25400" anchor="ctr"/>
            <a:lstStyle/>
            <a:p>
              <a:endParaRPr sz="900">
                <a:sym typeface="微软雅黑" panose="020B0503020204020204" charset="-122"/>
              </a:endParaRPr>
            </a:p>
          </p:txBody>
        </p:sp>
        <p:pic>
          <p:nvPicPr>
            <p:cNvPr id="3" name="图片 2" descr="Frame 9278 (1)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5670" y="669"/>
              <a:ext cx="2540" cy="510"/>
            </a:xfrm>
            <a:prstGeom prst="rect">
              <a:avLst/>
            </a:prstGeom>
          </p:spPr>
        </p:pic>
      </p:grpSp>
      <p:sp>
        <p:nvSpPr>
          <p:cNvPr id="179" name="TextBox 178"/>
          <p:cNvSpPr txBox="1"/>
          <p:nvPr/>
        </p:nvSpPr>
        <p:spPr>
          <a:xfrm>
            <a:off x="571500" y="1143000"/>
            <a:ext cx="5334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>
                <a:solidFill>
                  <a:srgbClr val="333333"/>
                </a:solidFill>
                <a:latin typeface="微软雅黑"/>
                <a:ea typeface="微软雅黑"/>
              </a:rPr>
              <a:t>■ 核心公式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333333"/>
                </a:solidFill>
                <a:latin typeface="微软雅黑"/>
                <a:ea typeface="微软雅黑"/>
              </a:rPr>
              <a:t>F = mrω² = 4π²mr/T²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333333"/>
                </a:solidFill>
                <a:latin typeface="微软雅黑"/>
                <a:ea typeface="微软雅黑"/>
              </a:rPr>
              <a:t>m:质量  r:半径  ω:角速度  T:周期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333333"/>
                </a:solidFill>
                <a:latin typeface="微软雅黑"/>
                <a:ea typeface="微软雅黑"/>
              </a:rPr>
              <a:t/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333333"/>
                </a:solidFill>
                <a:latin typeface="微软雅黑"/>
                <a:ea typeface="微软雅黑"/>
              </a:rPr>
              <a:t>■ 控制变量法三组实验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333333"/>
                </a:solidFill>
                <a:latin typeface="微软雅黑"/>
                <a:ea typeface="微软雅黑"/>
              </a:rPr>
              <a:t>组1：固定m、r，改变ω → F-ω²正比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333333"/>
                </a:solidFill>
                <a:latin typeface="微软雅黑"/>
                <a:ea typeface="微软雅黑"/>
              </a:rPr>
              <a:t>    斜率k₁ = mr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333333"/>
                </a:solidFill>
                <a:latin typeface="微软雅黑"/>
                <a:ea typeface="微软雅黑"/>
              </a:rPr>
              <a:t>组2：固定m、ω，改变r → F-r正比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333333"/>
                </a:solidFill>
                <a:latin typeface="微软雅黑"/>
                <a:ea typeface="微软雅黑"/>
              </a:rPr>
              <a:t>    斜率k₂ = mω²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333333"/>
                </a:solidFill>
                <a:latin typeface="微软雅黑"/>
                <a:ea typeface="微软雅黑"/>
              </a:rPr>
              <a:t>组3：固定r、ω，改变m → F-m正比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333333"/>
                </a:solidFill>
                <a:latin typeface="微软雅黑"/>
                <a:ea typeface="微软雅黑"/>
              </a:rPr>
              <a:t>    斜率k₃ = rω²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333333"/>
                </a:solidFill>
                <a:latin typeface="微软雅黑"/>
                <a:ea typeface="微软雅黑"/>
              </a:rPr>
              <a:t/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333333"/>
                </a:solidFill>
                <a:latin typeface="微软雅黑"/>
                <a:ea typeface="微软雅黑"/>
              </a:rPr>
              <a:t>■ 误差来源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333333"/>
                </a:solidFill>
                <a:latin typeface="微软雅黑"/>
                <a:ea typeface="微软雅黑"/>
              </a:rPr>
              <a:t>传感器零漂 / 转轴摩擦 / 质心偏移 / 计时精度</a:t>
            </a:r>
          </a:p>
        </p:txBody>
      </p:sp>
      <p:sp>
        <p:nvSpPr>
          <p:cNvPr id="180" name="TextBox 179"/>
          <p:cNvSpPr txBox="1"/>
          <p:nvPr/>
        </p:nvSpPr>
        <p:spPr>
          <a:xfrm>
            <a:off x="6096000" y="1143000"/>
            <a:ext cx="5334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>
                <a:solidFill>
                  <a:srgbClr val="1A5276"/>
                </a:solidFill>
                <a:latin typeface="微软雅黑"/>
                <a:ea typeface="微软雅黑"/>
              </a:rPr>
              <a:t>■ 数据记录表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1A5276"/>
                </a:solidFill>
                <a:latin typeface="微软雅黑"/>
                <a:ea typeface="微软雅黑"/>
              </a:rPr>
              <a:t>表2：F-ω²关系（m=100g, r=15cm）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1A5276"/>
                </a:solidFill>
                <a:latin typeface="微软雅黑"/>
                <a:ea typeface="微软雅黑"/>
              </a:rPr>
              <a:t>  ω: 3-8 rad/s，6组数据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1A5276"/>
                </a:solidFill>
                <a:latin typeface="微软雅黑"/>
                <a:ea typeface="微软雅黑"/>
              </a:rPr>
              <a:t>表3：F-r关系（m=100g, ω=5.0）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1A5276"/>
                </a:solidFill>
                <a:latin typeface="微软雅黑"/>
                <a:ea typeface="微软雅黑"/>
              </a:rPr>
              <a:t>  r: 5-20 cm，6组数据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1A5276"/>
                </a:solidFill>
                <a:latin typeface="微软雅黑"/>
                <a:ea typeface="微软雅黑"/>
              </a:rPr>
              <a:t>表4：F-m关系（r=15cm, ω=5.0）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1A5276"/>
                </a:solidFill>
                <a:latin typeface="微软雅黑"/>
                <a:ea typeface="微软雅黑"/>
              </a:rPr>
              <a:t>  m: 50-175 g，6组数据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1A5276"/>
                </a:solidFill>
                <a:latin typeface="微软雅黑"/>
                <a:ea typeface="微软雅黑"/>
              </a:rPr>
              <a:t/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1A5276"/>
                </a:solidFill>
                <a:latin typeface="微软雅黑"/>
                <a:ea typeface="微软雅黑"/>
              </a:rPr>
              <a:t>■ 数据处理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1A5276"/>
                </a:solidFill>
                <a:latin typeface="微软雅黑"/>
                <a:ea typeface="微软雅黑"/>
              </a:rPr>
              <a:t>APP线性拟合 + R²计算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1A5276"/>
                </a:solidFill>
                <a:latin typeface="微软雅黑"/>
                <a:ea typeface="微软雅黑"/>
              </a:rPr>
              <a:t>斜率反推系数，与理论值对比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1A5276"/>
                </a:solidFill>
                <a:latin typeface="微软雅黑"/>
                <a:ea typeface="微软雅黑"/>
              </a:rPr>
              <a:t>相对误差 η = |k理-k实|/k理</a:t>
            </a:r>
          </a:p>
        </p:txBody>
      </p:sp>
      <p:sp>
        <p:nvSpPr>
          <p:cNvPr id="181" name="TextBox 180"/>
          <p:cNvSpPr txBox="1"/>
          <p:nvPr/>
        </p:nvSpPr>
        <p:spPr>
          <a:xfrm>
            <a:off x="10287000" y="6381750"/>
            <a:ext cx="1714500" cy="2857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999999"/>
                </a:solidFill>
                <a:latin typeface="微软雅黑"/>
                <a:ea typeface="微软雅黑"/>
              </a:rPr>
              <a:t>🎬 03:00-04:30</a:t>
            </a:r>
          </a:p>
        </p:txBody>
      </p:sp>
    </p:spTree>
    <p:custDataLst>
      <p:tags r:id="rId3"/>
    </p:custDataLst>
  </p:cSld>
  <p:clrMapOvr>
    <a:masterClrMapping/>
  </p:clrMapOvr>
  <p:transition spd="slow" advTm="22000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46990" y="2564765"/>
            <a:ext cx="12145010" cy="182372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indent="0" algn="ctr" fontAlgn="auto">
              <a:lnSpc>
                <a:spcPct val="130000"/>
              </a:lnSpc>
              <a:buFont typeface="+mj-lt"/>
              <a:buNone/>
            </a:pPr>
            <a:r>
              <a:rPr lang="zh-CN" altLang="en-US" sz="6600" b="1" spc="500" dirty="0">
                <a:solidFill>
                  <a:schemeClr val="bg1"/>
                </a:solidFill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实验教学目标</a:t>
            </a:r>
            <a:endParaRPr lang="zh-CN" altLang="en-US" sz="6600" b="1" spc="500" dirty="0">
              <a:solidFill>
                <a:schemeClr val="bg1"/>
              </a:solidFill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3575685" y="1557020"/>
            <a:ext cx="4898390" cy="11988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indent="0" algn="ctr" eaLnBrk="0" fontAlgn="auto" hangingPunct="0"/>
            <a:r>
              <a:rPr lang="en-US" altLang="zh-CN" sz="7200" b="1" dirty="0">
                <a:solidFill>
                  <a:srgbClr val="08AAF2"/>
                </a:solidFill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04</a:t>
            </a:r>
            <a:endParaRPr lang="en-US" altLang="zh-CN" sz="7200" b="1" dirty="0">
              <a:solidFill>
                <a:srgbClr val="08AAF2"/>
              </a:solidFill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pic>
        <p:nvPicPr>
          <p:cNvPr id="2" name="图片 1" descr="1 说课活动延展物料-17"/>
          <p:cNvPicPr>
            <a:picLocks noChangeAspect="1"/>
          </p:cNvPicPr>
          <p:nvPr/>
        </p:nvPicPr>
        <p:blipFill>
          <a:blip r:embed="rId2">
            <a:alphaModFix amt="60000"/>
          </a:blip>
          <a:stretch>
            <a:fillRect/>
          </a:stretch>
        </p:blipFill>
        <p:spPr>
          <a:xfrm>
            <a:off x="0" y="3550285"/>
            <a:ext cx="2784475" cy="3307715"/>
          </a:xfrm>
          <a:prstGeom prst="rect">
            <a:avLst/>
          </a:prstGeom>
        </p:spPr>
      </p:pic>
      <p:pic>
        <p:nvPicPr>
          <p:cNvPr id="4" name="图片 3" descr="1 说课活动延展物料-18"/>
          <p:cNvPicPr>
            <a:picLocks noChangeAspect="1"/>
          </p:cNvPicPr>
          <p:nvPr/>
        </p:nvPicPr>
        <p:blipFill>
          <a:blip r:embed="rId3">
            <a:alphaModFix amt="60000"/>
          </a:blip>
          <a:srcRect l="-1163" t="24645"/>
          <a:stretch>
            <a:fillRect/>
          </a:stretch>
        </p:blipFill>
        <p:spPr>
          <a:xfrm rot="16200000">
            <a:off x="-290195" y="265430"/>
            <a:ext cx="3308350" cy="2777490"/>
          </a:xfrm>
          <a:prstGeom prst="rect">
            <a:avLst/>
          </a:prstGeom>
        </p:spPr>
      </p:pic>
      <p:pic>
        <p:nvPicPr>
          <p:cNvPr id="189" name="图像" descr="图像"/>
          <p:cNvPicPr>
            <a:picLocks noChangeAspect="1"/>
          </p:cNvPicPr>
          <p:nvPr/>
        </p:nvPicPr>
        <p:blipFill>
          <a:blip r:embed="rId4">
            <a:alphaModFix amt="19907"/>
          </a:blip>
          <a:stretch>
            <a:fillRect/>
          </a:stretch>
        </p:blipFill>
        <p:spPr>
          <a:xfrm>
            <a:off x="8543290" y="727075"/>
            <a:ext cx="7526020" cy="6130925"/>
          </a:xfrm>
          <a:prstGeom prst="rect">
            <a:avLst/>
          </a:prstGeom>
          <a:ln w="12700">
            <a:miter lim="400000"/>
            <a:headEnd/>
            <a:tailEnd/>
          </a:ln>
        </p:spPr>
      </p:pic>
    </p:spTree>
    <p:custDataLst>
      <p:tags r:id="rId5"/>
    </p:custDataLst>
  </p:cSld>
  <p:clrMapOvr>
    <a:masterClrMapping/>
  </p:clrMapOvr>
  <p:transition spd="slow" advTm="22000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8" name="图像" descr="图像"/>
          <p:cNvPicPr>
            <a:picLocks noChangeAspect="1"/>
          </p:cNvPicPr>
          <p:nvPr/>
        </p:nvPicPr>
        <p:blipFill>
          <a:blip r:embed="rId1">
            <a:alphaModFix amt="15000"/>
          </a:blip>
          <a:stretch>
            <a:fillRect/>
          </a:stretch>
        </p:blipFill>
        <p:spPr>
          <a:xfrm>
            <a:off x="0" y="5859499"/>
            <a:ext cx="12192001" cy="1067467"/>
          </a:xfrm>
          <a:prstGeom prst="rect">
            <a:avLst/>
          </a:prstGeom>
          <a:ln w="12700">
            <a:miter lim="400000"/>
            <a:headEnd/>
            <a:tailEnd/>
          </a:ln>
        </p:spPr>
      </p:pic>
      <p:grpSp>
        <p:nvGrpSpPr>
          <p:cNvPr id="10" name="组合 9"/>
          <p:cNvGrpSpPr/>
          <p:nvPr/>
        </p:nvGrpSpPr>
        <p:grpSpPr>
          <a:xfrm>
            <a:off x="531495" y="394970"/>
            <a:ext cx="11057890" cy="467360"/>
            <a:chOff x="837" y="622"/>
            <a:chExt cx="17414" cy="736"/>
          </a:xfrm>
        </p:grpSpPr>
        <p:sp>
          <p:nvSpPr>
            <p:cNvPr id="2" name="幻灯片副标题"/>
            <p:cNvSpPr txBox="1"/>
            <p:nvPr/>
          </p:nvSpPr>
          <p:spPr>
            <a:xfrm>
              <a:off x="837" y="622"/>
              <a:ext cx="17300" cy="736"/>
            </a:xfrm>
            <a:prstGeom prst="rect">
              <a:avLst/>
            </a:prstGeom>
          </p:spPr>
          <p:txBody>
            <a:bodyPr vert="horz" lIns="45719" tIns="45719" rIns="45719" bIns="45719" rtlCol="0">
              <a:noAutofit/>
            </a:bodyPr>
            <a:lstStyle>
              <a:lvl1pPr marL="0" indent="0" algn="l" defTabSz="726440" rtl="0" eaLnBrk="1" latinLnBrk="0" hangingPunct="1">
                <a:lnSpc>
                  <a:spcPct val="100000"/>
                </a:lnSpc>
                <a:spcBef>
                  <a:spcPct val="0"/>
                </a:spcBef>
                <a:buSzTx/>
                <a:buFont typeface="Arial" panose="020B0604020202020204" pitchFamily="34" charset="0"/>
                <a:buNone/>
                <a:defRPr sz="242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>
                  <a:solidFill>
                    <a:srgbClr val="005493"/>
                  </a:solidFill>
                </a:defRPr>
              </a:pPr>
              <a:r>
                <a:rPr sz="2400" b="1">
                  <a:solidFill>
                    <a:srgbClr val="1A5276"/>
                  </a:solidFill>
                  <a:latin typeface="微软雅黑"/>
                  <a:ea typeface="微软雅黑"/>
                </a:rPr>
                <a:t>实验教学目标</a:t>
              </a:r>
              <a:endParaRPr lang="en-US" altLang="zh-CN" sz="2400">
                <a:solidFill>
                  <a:srgbClr val="00B0F0"/>
                </a:solidFill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</a:endParaRPr>
            </a:p>
          </p:txBody>
        </p:sp>
        <p:sp>
          <p:nvSpPr>
            <p:cNvPr id="4" name="线条"/>
            <p:cNvSpPr/>
            <p:nvPr/>
          </p:nvSpPr>
          <p:spPr>
            <a:xfrm>
              <a:off x="949" y="1347"/>
              <a:ext cx="17303" cy="0"/>
            </a:xfrm>
            <a:prstGeom prst="line">
              <a:avLst/>
            </a:prstGeom>
            <a:ln w="25400">
              <a:solidFill>
                <a:srgbClr val="00B0F0"/>
              </a:solidFill>
              <a:miter lim="400000"/>
            </a:ln>
          </p:spPr>
          <p:txBody>
            <a:bodyPr lIns="25400" tIns="25400" rIns="25400" bIns="25400" anchor="ctr"/>
            <a:lstStyle/>
            <a:p>
              <a:endParaRPr sz="900">
                <a:sym typeface="微软雅黑" panose="020B0503020204020204" charset="-122"/>
              </a:endParaRPr>
            </a:p>
          </p:txBody>
        </p:sp>
        <p:pic>
          <p:nvPicPr>
            <p:cNvPr id="3" name="图片 2" descr="Frame 9278 (1)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5670" y="669"/>
              <a:ext cx="2540" cy="510"/>
            </a:xfrm>
            <a:prstGeom prst="rect">
              <a:avLst/>
            </a:prstGeom>
          </p:spPr>
        </p:pic>
      </p:grpSp>
      <p:sp>
        <p:nvSpPr>
          <p:cNvPr id="179" name="TextBox 178"/>
          <p:cNvSpPr txBox="1"/>
          <p:nvPr/>
        </p:nvSpPr>
        <p:spPr>
          <a:xfrm>
            <a:off x="571500" y="1143000"/>
            <a:ext cx="11049000" cy="4762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333333"/>
                </a:solidFill>
                <a:latin typeface="微软雅黑"/>
                <a:ea typeface="微软雅黑"/>
              </a:rPr>
              <a:t>■ 物理观念</a:t>
            </a:r>
          </a:p>
          <a:p>
            <a:pPr lvl="1">
              <a:spcAft>
                <a:spcPts val="600"/>
              </a:spcAft>
            </a:pPr>
            <a:r>
              <a:rPr sz="1300">
                <a:solidFill>
                  <a:srgbClr val="333333"/>
                </a:solidFill>
                <a:latin typeface="微软雅黑"/>
                <a:ea typeface="微软雅黑"/>
              </a:rPr>
              <a:t>理解向心力是做匀速圆周运动物体所受合外力，方向指向圆心；建立"力与运动状态变化"的因果关系观念，能用F=mrω²定量解释生活现象。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333333"/>
                </a:solidFill>
                <a:latin typeface="微软雅黑"/>
                <a:ea typeface="微软雅黑"/>
              </a:rPr>
              <a:t/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333333"/>
                </a:solidFill>
                <a:latin typeface="微软雅黑"/>
                <a:ea typeface="微软雅黑"/>
              </a:rPr>
              <a:t>■ 科学思维</a:t>
            </a:r>
          </a:p>
          <a:p>
            <a:pPr lvl="1">
              <a:spcAft>
                <a:spcPts val="600"/>
              </a:spcAft>
            </a:pPr>
            <a:r>
              <a:rPr sz="1300">
                <a:solidFill>
                  <a:srgbClr val="333333"/>
                </a:solidFill>
                <a:latin typeface="微软雅黑"/>
                <a:ea typeface="微软雅黑"/>
              </a:rPr>
              <a:t>掌握控制变量法；能用F-ω²、F-r、F-m图象线性关系进行证据推理，从斜率反推物理量，形成"模型—数据—结论"思维路径。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333333"/>
                </a:solidFill>
                <a:latin typeface="微软雅黑"/>
                <a:ea typeface="微软雅黑"/>
              </a:rPr>
              <a:t/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333333"/>
                </a:solidFill>
                <a:latin typeface="微软雅黑"/>
                <a:ea typeface="微软雅黑"/>
              </a:rPr>
              <a:t>■ 科学探究</a:t>
            </a:r>
          </a:p>
          <a:p>
            <a:pPr lvl="1">
              <a:spcAft>
                <a:spcPts val="600"/>
              </a:spcAft>
            </a:pPr>
            <a:r>
              <a:rPr sz="1300">
                <a:solidFill>
                  <a:srgbClr val="333333"/>
                </a:solidFill>
                <a:latin typeface="微软雅黑"/>
                <a:ea typeface="微软雅黑"/>
              </a:rPr>
              <a:t>能设计变量控制方案；能操作数字化传感器采集数据；能用APP进行数据拟合与误差分析；能撰写完整实验报告。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333333"/>
                </a:solidFill>
                <a:latin typeface="微软雅黑"/>
                <a:ea typeface="微软雅黑"/>
              </a:rPr>
              <a:t/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333333"/>
                </a:solidFill>
                <a:latin typeface="微软雅黑"/>
                <a:ea typeface="微软雅黑"/>
              </a:rPr>
              <a:t>■ 科学态度与责任</a:t>
            </a:r>
          </a:p>
          <a:p>
            <a:pPr lvl="1">
              <a:spcAft>
                <a:spcPts val="600"/>
              </a:spcAft>
            </a:pPr>
            <a:r>
              <a:rPr sz="1300">
                <a:solidFill>
                  <a:srgbClr val="333333"/>
                </a:solidFill>
                <a:latin typeface="微软雅黑"/>
                <a:ea typeface="微软雅黑"/>
              </a:rPr>
              <a:t>体会传感器与信息技术对科学探究的促进作用；养成实事求是、尊重证据的科学态度；关注圆周运动在交通安全、航天工程中的应用。</a:t>
            </a:r>
          </a:p>
        </p:txBody>
      </p:sp>
      <p:sp>
        <p:nvSpPr>
          <p:cNvPr id="180" name="TextBox 179"/>
          <p:cNvSpPr txBox="1"/>
          <p:nvPr/>
        </p:nvSpPr>
        <p:spPr>
          <a:xfrm>
            <a:off x="10287000" y="6381750"/>
            <a:ext cx="1714500" cy="2857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999999"/>
                </a:solidFill>
                <a:latin typeface="微软雅黑"/>
                <a:ea typeface="微软雅黑"/>
              </a:rPr>
              <a:t>🎬 04:30-05:00</a:t>
            </a:r>
          </a:p>
        </p:txBody>
      </p:sp>
    </p:spTree>
    <p:custDataLst>
      <p:tags r:id="rId3"/>
    </p:custDataLst>
  </p:cSld>
  <p:clrMapOvr>
    <a:masterClrMapping/>
  </p:clrMapOvr>
  <p:transition spd="slow" advTm="22000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46990" y="2564765"/>
            <a:ext cx="12145010" cy="182372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indent="0" algn="ctr" fontAlgn="auto">
              <a:lnSpc>
                <a:spcPct val="130000"/>
              </a:lnSpc>
              <a:buFont typeface="+mj-lt"/>
              <a:buNone/>
            </a:pPr>
            <a:r>
              <a:rPr lang="zh-CN" altLang="en-US" sz="6600" b="1" spc="500" dirty="0">
                <a:solidFill>
                  <a:schemeClr val="bg1"/>
                </a:solidFill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实验教学过程</a:t>
            </a:r>
            <a:endParaRPr lang="zh-CN" altLang="en-US" sz="6600" b="1" spc="500" dirty="0">
              <a:solidFill>
                <a:schemeClr val="bg1"/>
              </a:solidFill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3575685" y="1557020"/>
            <a:ext cx="4898390" cy="11988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indent="0" algn="ctr" eaLnBrk="0" fontAlgn="auto" hangingPunct="0"/>
            <a:r>
              <a:rPr lang="en-US" altLang="zh-CN" sz="7200" b="1" dirty="0">
                <a:solidFill>
                  <a:srgbClr val="08AAF2"/>
                </a:solidFill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05</a:t>
            </a:r>
            <a:endParaRPr lang="en-US" altLang="zh-CN" sz="7200" b="1" dirty="0">
              <a:solidFill>
                <a:srgbClr val="08AAF2"/>
              </a:solidFill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pic>
        <p:nvPicPr>
          <p:cNvPr id="2" name="图片 1" descr="1 说课活动延展物料-17"/>
          <p:cNvPicPr>
            <a:picLocks noChangeAspect="1"/>
          </p:cNvPicPr>
          <p:nvPr/>
        </p:nvPicPr>
        <p:blipFill>
          <a:blip r:embed="rId2">
            <a:alphaModFix amt="60000"/>
          </a:blip>
          <a:stretch>
            <a:fillRect/>
          </a:stretch>
        </p:blipFill>
        <p:spPr>
          <a:xfrm>
            <a:off x="0" y="3550285"/>
            <a:ext cx="2784475" cy="3307715"/>
          </a:xfrm>
          <a:prstGeom prst="rect">
            <a:avLst/>
          </a:prstGeom>
        </p:spPr>
      </p:pic>
      <p:pic>
        <p:nvPicPr>
          <p:cNvPr id="4" name="图片 3" descr="1 说课活动延展物料-18"/>
          <p:cNvPicPr>
            <a:picLocks noChangeAspect="1"/>
          </p:cNvPicPr>
          <p:nvPr/>
        </p:nvPicPr>
        <p:blipFill>
          <a:blip r:embed="rId3">
            <a:alphaModFix amt="60000"/>
          </a:blip>
          <a:srcRect l="-1163" t="24645"/>
          <a:stretch>
            <a:fillRect/>
          </a:stretch>
        </p:blipFill>
        <p:spPr>
          <a:xfrm rot="16200000">
            <a:off x="-290195" y="265430"/>
            <a:ext cx="3308350" cy="2777490"/>
          </a:xfrm>
          <a:prstGeom prst="rect">
            <a:avLst/>
          </a:prstGeom>
        </p:spPr>
      </p:pic>
      <p:pic>
        <p:nvPicPr>
          <p:cNvPr id="189" name="图像" descr="图像"/>
          <p:cNvPicPr>
            <a:picLocks noChangeAspect="1"/>
          </p:cNvPicPr>
          <p:nvPr/>
        </p:nvPicPr>
        <p:blipFill>
          <a:blip r:embed="rId4">
            <a:alphaModFix amt="19907"/>
          </a:blip>
          <a:stretch>
            <a:fillRect/>
          </a:stretch>
        </p:blipFill>
        <p:spPr>
          <a:xfrm>
            <a:off x="8543290" y="727075"/>
            <a:ext cx="7526020" cy="6130925"/>
          </a:xfrm>
          <a:prstGeom prst="rect">
            <a:avLst/>
          </a:prstGeom>
          <a:ln w="12700">
            <a:miter lim="400000"/>
            <a:headEnd/>
            <a:tailEnd/>
          </a:ln>
        </p:spPr>
      </p:pic>
    </p:spTree>
    <p:custDataLst>
      <p:tags r:id="rId5"/>
    </p:custDataLst>
  </p:cSld>
  <p:clrMapOvr>
    <a:masterClrMapping/>
  </p:clrMapOvr>
  <p:transition spd="slow" advTm="22000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8" name="图像" descr="图像"/>
          <p:cNvPicPr>
            <a:picLocks noChangeAspect="1"/>
          </p:cNvPicPr>
          <p:nvPr/>
        </p:nvPicPr>
        <p:blipFill>
          <a:blip r:embed="rId1">
            <a:alphaModFix amt="15000"/>
          </a:blip>
          <a:stretch>
            <a:fillRect/>
          </a:stretch>
        </p:blipFill>
        <p:spPr>
          <a:xfrm>
            <a:off x="0" y="5859499"/>
            <a:ext cx="12192001" cy="1067467"/>
          </a:xfrm>
          <a:prstGeom prst="rect">
            <a:avLst/>
          </a:prstGeom>
          <a:ln w="12700">
            <a:miter lim="400000"/>
            <a:headEnd/>
            <a:tailEnd/>
          </a:ln>
        </p:spPr>
      </p:pic>
      <p:grpSp>
        <p:nvGrpSpPr>
          <p:cNvPr id="10" name="组合 9"/>
          <p:cNvGrpSpPr/>
          <p:nvPr/>
        </p:nvGrpSpPr>
        <p:grpSpPr>
          <a:xfrm>
            <a:off x="531495" y="394970"/>
            <a:ext cx="11057890" cy="467360"/>
            <a:chOff x="837" y="622"/>
            <a:chExt cx="17414" cy="736"/>
          </a:xfrm>
        </p:grpSpPr>
        <p:sp>
          <p:nvSpPr>
            <p:cNvPr id="2" name="幻灯片副标题"/>
            <p:cNvSpPr txBox="1"/>
            <p:nvPr/>
          </p:nvSpPr>
          <p:spPr>
            <a:xfrm>
              <a:off x="837" y="622"/>
              <a:ext cx="17300" cy="736"/>
            </a:xfrm>
            <a:prstGeom prst="rect">
              <a:avLst/>
            </a:prstGeom>
          </p:spPr>
          <p:txBody>
            <a:bodyPr vert="horz" lIns="45719" tIns="45719" rIns="45719" bIns="45719" rtlCol="0">
              <a:noAutofit/>
            </a:bodyPr>
            <a:lstStyle>
              <a:lvl1pPr marL="0" indent="0" algn="l" defTabSz="726440" rtl="0" eaLnBrk="1" latinLnBrk="0" hangingPunct="1">
                <a:lnSpc>
                  <a:spcPct val="100000"/>
                </a:lnSpc>
                <a:spcBef>
                  <a:spcPct val="0"/>
                </a:spcBef>
                <a:buSzTx/>
                <a:buFont typeface="Arial" panose="020B0604020202020204" pitchFamily="34" charset="0"/>
                <a:buNone/>
                <a:defRPr sz="242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>
                  <a:solidFill>
                    <a:srgbClr val="005493"/>
                  </a:solidFill>
                </a:defRPr>
              </a:pPr>
              <a:r>
                <a:rPr sz="2400" b="1">
                  <a:solidFill>
                    <a:srgbClr val="1A5276"/>
                  </a:solidFill>
                  <a:latin typeface="微软雅黑"/>
                  <a:ea typeface="微软雅黑"/>
                </a:rPr>
                <a:t>实验教学过程（视频06:00-13:00 核心7分钟）</a:t>
              </a:r>
              <a:endParaRPr lang="en-US" altLang="zh-CN" sz="2400">
                <a:solidFill>
                  <a:srgbClr val="00B0F0"/>
                </a:solidFill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</a:endParaRPr>
            </a:p>
          </p:txBody>
        </p:sp>
        <p:sp>
          <p:nvSpPr>
            <p:cNvPr id="4" name="线条"/>
            <p:cNvSpPr/>
            <p:nvPr/>
          </p:nvSpPr>
          <p:spPr>
            <a:xfrm>
              <a:off x="949" y="1347"/>
              <a:ext cx="17303" cy="0"/>
            </a:xfrm>
            <a:prstGeom prst="line">
              <a:avLst/>
            </a:prstGeom>
            <a:ln w="25400">
              <a:solidFill>
                <a:srgbClr val="00B0F0"/>
              </a:solidFill>
              <a:miter lim="400000"/>
            </a:ln>
          </p:spPr>
          <p:txBody>
            <a:bodyPr lIns="25400" tIns="25400" rIns="25400" bIns="25400" anchor="ctr"/>
            <a:lstStyle/>
            <a:p>
              <a:endParaRPr sz="900">
                <a:sym typeface="微软雅黑" panose="020B0503020204020204" charset="-122"/>
              </a:endParaRPr>
            </a:p>
          </p:txBody>
        </p:sp>
        <p:pic>
          <p:nvPicPr>
            <p:cNvPr id="3" name="图片 2" descr="Frame 9278 (1)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5670" y="669"/>
              <a:ext cx="2540" cy="510"/>
            </a:xfrm>
            <a:prstGeom prst="rect">
              <a:avLst/>
            </a:prstGeom>
          </p:spPr>
        </p:pic>
      </p:grpSp>
      <p:sp>
        <p:nvSpPr>
          <p:cNvPr id="179" name="TextBox 178"/>
          <p:cNvSpPr txBox="1"/>
          <p:nvPr/>
        </p:nvSpPr>
        <p:spPr>
          <a:xfrm>
            <a:off x="571500" y="1143000"/>
            <a:ext cx="11049000" cy="4762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>
                <a:solidFill>
                  <a:srgbClr val="333333"/>
                </a:solidFill>
                <a:latin typeface="微软雅黑"/>
                <a:ea typeface="微软雅黑"/>
              </a:rPr>
              <a:t>（一）创设情境·提出问题  4min  [05:00-06:00]</a:t>
            </a:r>
          </a:p>
          <a:p>
            <a:pPr lvl="1">
              <a:spcAft>
                <a:spcPts val="600"/>
              </a:spcAft>
            </a:pPr>
            <a:r>
              <a:rPr sz="1100">
                <a:solidFill>
                  <a:srgbClr val="333333"/>
                </a:solidFill>
                <a:latin typeface="微软雅黑"/>
                <a:ea typeface="微软雅黑"/>
              </a:rPr>
              <a:t>演示传统弹簧测力计演示仪 → 学生上台摇转台感受力随转速变化 → 提出三问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333333"/>
                </a:solidFill>
                <a:latin typeface="微软雅黑"/>
                <a:ea typeface="微软雅黑"/>
              </a:rPr>
              <a:t/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333333"/>
                </a:solidFill>
                <a:latin typeface="微软雅黑"/>
                <a:ea typeface="微软雅黑"/>
              </a:rPr>
              <a:t>（二）猜想假设·设计方案  5min  [06:00-07:00]</a:t>
            </a:r>
          </a:p>
          <a:p>
            <a:pPr lvl="1">
              <a:spcAft>
                <a:spcPts val="600"/>
              </a:spcAft>
            </a:pPr>
            <a:r>
              <a:rPr sz="1100">
                <a:solidFill>
                  <a:srgbClr val="333333"/>
                </a:solidFill>
                <a:latin typeface="微软雅黑"/>
                <a:ea typeface="微软雅黑"/>
              </a:rPr>
              <a:t>猜想F与m、r、ω有关 → 讨论控制变量法 → 引出数字化测量必要性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333333"/>
                </a:solidFill>
                <a:latin typeface="微软雅黑"/>
                <a:ea typeface="微软雅黑"/>
              </a:rPr>
              <a:t/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333333"/>
                </a:solidFill>
                <a:latin typeface="微软雅黑"/>
                <a:ea typeface="微软雅黑"/>
              </a:rPr>
              <a:t>（三）认识器材·了解原理  4min  [07:00-08:00]</a:t>
            </a:r>
          </a:p>
          <a:p>
            <a:pPr lvl="1">
              <a:spcAft>
                <a:spcPts val="600"/>
              </a:spcAft>
            </a:pPr>
            <a:r>
              <a:rPr sz="1100">
                <a:solidFill>
                  <a:srgbClr val="333333"/>
                </a:solidFill>
                <a:latin typeface="微软雅黑"/>
                <a:ea typeface="微软雅黑"/>
              </a:rPr>
              <a:t>介绍传感器、光电门、ESP32工作原理 → 讲解数据流链路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333333"/>
                </a:solidFill>
                <a:latin typeface="微软雅黑"/>
                <a:ea typeface="微软雅黑"/>
              </a:rPr>
              <a:t/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333333"/>
                </a:solidFill>
                <a:latin typeface="微软雅黑"/>
                <a:ea typeface="微软雅黑"/>
              </a:rPr>
              <a:t>（四）分组实验·采集数据  12min [08:00-11:00] 视频快剪</a:t>
            </a:r>
          </a:p>
          <a:p>
            <a:pPr lvl="1">
              <a:spcAft>
                <a:spcPts val="600"/>
              </a:spcAft>
            </a:pPr>
            <a:r>
              <a:rPr sz="1100">
                <a:solidFill>
                  <a:srgbClr val="333333"/>
                </a:solidFill>
                <a:latin typeface="微软雅黑"/>
                <a:ea typeface="微软雅黑"/>
              </a:rPr>
              <a:t>3大组分别做F-ω²、F-r、F-m实验 → 每组6组数据 → APP实时绘图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333333"/>
                </a:solidFill>
                <a:latin typeface="微软雅黑"/>
                <a:ea typeface="微软雅黑"/>
              </a:rPr>
              <a:t/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333333"/>
                </a:solidFill>
                <a:latin typeface="微软雅黑"/>
                <a:ea typeface="微软雅黑"/>
              </a:rPr>
              <a:t>（五）数据处理·得出结论  6min  [11:00-12:00]</a:t>
            </a:r>
          </a:p>
          <a:p>
            <a:pPr lvl="1">
              <a:spcAft>
                <a:spcPts val="600"/>
              </a:spcAft>
            </a:pPr>
            <a:r>
              <a:rPr sz="1100">
                <a:solidFill>
                  <a:srgbClr val="333333"/>
                </a:solidFill>
                <a:latin typeface="微软雅黑"/>
                <a:ea typeface="微软雅黑"/>
              </a:rPr>
              <a:t>线性拟合三条直线 → 分析斜率物理意义 → 验证F=mrω²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333333"/>
                </a:solidFill>
                <a:latin typeface="微软雅黑"/>
                <a:ea typeface="微软雅黑"/>
              </a:rPr>
              <a:t/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333333"/>
                </a:solidFill>
                <a:latin typeface="微软雅黑"/>
                <a:ea typeface="微软雅黑"/>
              </a:rPr>
              <a:t>（六）误差分析·反思改进  4min  [12:00-12:30]</a:t>
            </a:r>
          </a:p>
          <a:p>
            <a:pPr lvl="1">
              <a:spcAft>
                <a:spcPts val="600"/>
              </a:spcAft>
            </a:pPr>
            <a:r>
              <a:rPr sz="1100">
                <a:solidFill>
                  <a:srgbClr val="333333"/>
                </a:solidFill>
                <a:latin typeface="微软雅黑"/>
                <a:ea typeface="微软雅黑"/>
              </a:rPr>
              <a:t>讨论误差来源 → 提出改进方案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333333"/>
                </a:solidFill>
                <a:latin typeface="微软雅黑"/>
                <a:ea typeface="微软雅黑"/>
              </a:rPr>
              <a:t/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333333"/>
                </a:solidFill>
                <a:latin typeface="微软雅黑"/>
                <a:ea typeface="微软雅黑"/>
              </a:rPr>
              <a:t>（七）拓展应用·联系实际  5min  [12:30-13:00]</a:t>
            </a:r>
          </a:p>
          <a:p>
            <a:pPr lvl="1">
              <a:spcAft>
                <a:spcPts val="600"/>
              </a:spcAft>
            </a:pPr>
            <a:r>
              <a:rPr sz="1100">
                <a:solidFill>
                  <a:srgbClr val="333333"/>
                </a:solidFill>
                <a:latin typeface="微软雅黑"/>
                <a:ea typeface="微软雅黑"/>
              </a:rPr>
              <a:t>汽车转弯 / 洗衣机脱水 / 飞天椅 / 航天器人造重力</a:t>
            </a:r>
          </a:p>
        </p:txBody>
      </p:sp>
      <p:sp>
        <p:nvSpPr>
          <p:cNvPr id="180" name="TextBox 179"/>
          <p:cNvSpPr txBox="1"/>
          <p:nvPr/>
        </p:nvSpPr>
        <p:spPr>
          <a:xfrm>
            <a:off x="10287000" y="6381750"/>
            <a:ext cx="1714500" cy="2857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999999"/>
                </a:solidFill>
                <a:latin typeface="微软雅黑"/>
                <a:ea typeface="微软雅黑"/>
              </a:rPr>
              <a:t>🎬 05:00-13:00</a:t>
            </a:r>
          </a:p>
        </p:txBody>
      </p:sp>
    </p:spTree>
    <p:custDataLst>
      <p:tags r:id="rId3"/>
    </p:custDataLst>
  </p:cSld>
  <p:clrMapOvr>
    <a:masterClrMapping/>
  </p:clrMapOvr>
  <p:transition spd="slow" advTm="22000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46990" y="2564765"/>
            <a:ext cx="12145010" cy="182372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indent="0" algn="ctr" fontAlgn="auto">
              <a:lnSpc>
                <a:spcPct val="130000"/>
              </a:lnSpc>
              <a:buFont typeface="+mj-lt"/>
              <a:buNone/>
            </a:pPr>
            <a:r>
              <a:rPr lang="zh-CN" altLang="en-US" sz="6600" b="1" spc="500" dirty="0">
                <a:solidFill>
                  <a:schemeClr val="bg1"/>
                </a:solidFill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实验效果评价</a:t>
            </a:r>
            <a:endParaRPr lang="zh-CN" altLang="en-US" sz="6600" b="1" spc="500" dirty="0">
              <a:solidFill>
                <a:schemeClr val="bg1"/>
              </a:solidFill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3575685" y="1557020"/>
            <a:ext cx="4898390" cy="11988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indent="0" algn="ctr" eaLnBrk="0" fontAlgn="auto" hangingPunct="0"/>
            <a:r>
              <a:rPr lang="en-US" altLang="zh-CN" sz="7200" b="1" dirty="0">
                <a:solidFill>
                  <a:srgbClr val="08AAF2"/>
                </a:solidFill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06</a:t>
            </a:r>
            <a:endParaRPr lang="en-US" altLang="zh-CN" sz="7200" b="1" dirty="0">
              <a:solidFill>
                <a:srgbClr val="08AAF2"/>
              </a:solidFill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pic>
        <p:nvPicPr>
          <p:cNvPr id="2" name="图片 1" descr="1 说课活动延展物料-17"/>
          <p:cNvPicPr>
            <a:picLocks noChangeAspect="1"/>
          </p:cNvPicPr>
          <p:nvPr/>
        </p:nvPicPr>
        <p:blipFill>
          <a:blip r:embed="rId2">
            <a:alphaModFix amt="60000"/>
          </a:blip>
          <a:stretch>
            <a:fillRect/>
          </a:stretch>
        </p:blipFill>
        <p:spPr>
          <a:xfrm>
            <a:off x="0" y="3550285"/>
            <a:ext cx="2784475" cy="3307715"/>
          </a:xfrm>
          <a:prstGeom prst="rect">
            <a:avLst/>
          </a:prstGeom>
        </p:spPr>
      </p:pic>
      <p:pic>
        <p:nvPicPr>
          <p:cNvPr id="4" name="图片 3" descr="1 说课活动延展物料-18"/>
          <p:cNvPicPr>
            <a:picLocks noChangeAspect="1"/>
          </p:cNvPicPr>
          <p:nvPr/>
        </p:nvPicPr>
        <p:blipFill>
          <a:blip r:embed="rId3">
            <a:alphaModFix amt="60000"/>
          </a:blip>
          <a:srcRect l="-1163" t="24645"/>
          <a:stretch>
            <a:fillRect/>
          </a:stretch>
        </p:blipFill>
        <p:spPr>
          <a:xfrm rot="16200000">
            <a:off x="-290195" y="265430"/>
            <a:ext cx="3308350" cy="2777490"/>
          </a:xfrm>
          <a:prstGeom prst="rect">
            <a:avLst/>
          </a:prstGeom>
        </p:spPr>
      </p:pic>
      <p:pic>
        <p:nvPicPr>
          <p:cNvPr id="189" name="图像" descr="图像"/>
          <p:cNvPicPr>
            <a:picLocks noChangeAspect="1"/>
          </p:cNvPicPr>
          <p:nvPr/>
        </p:nvPicPr>
        <p:blipFill>
          <a:blip r:embed="rId4">
            <a:alphaModFix amt="19907"/>
          </a:blip>
          <a:stretch>
            <a:fillRect/>
          </a:stretch>
        </p:blipFill>
        <p:spPr>
          <a:xfrm>
            <a:off x="8543290" y="727075"/>
            <a:ext cx="7526020" cy="6130925"/>
          </a:xfrm>
          <a:prstGeom prst="rect">
            <a:avLst/>
          </a:prstGeom>
          <a:ln w="12700">
            <a:miter lim="400000"/>
            <a:headEnd/>
            <a:tailEnd/>
          </a:ln>
        </p:spPr>
      </p:pic>
    </p:spTree>
    <p:custDataLst>
      <p:tags r:id="rId5"/>
    </p:custDataLst>
  </p:cSld>
  <p:clrMapOvr>
    <a:masterClrMapping/>
  </p:clrMapOvr>
  <p:transition spd="slow" advTm="22000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8" name="图像" descr="图像"/>
          <p:cNvPicPr>
            <a:picLocks noChangeAspect="1"/>
          </p:cNvPicPr>
          <p:nvPr/>
        </p:nvPicPr>
        <p:blipFill>
          <a:blip r:embed="rId1">
            <a:alphaModFix amt="15000"/>
          </a:blip>
          <a:stretch>
            <a:fillRect/>
          </a:stretch>
        </p:blipFill>
        <p:spPr>
          <a:xfrm>
            <a:off x="0" y="5859499"/>
            <a:ext cx="12192001" cy="1067467"/>
          </a:xfrm>
          <a:prstGeom prst="rect">
            <a:avLst/>
          </a:prstGeom>
          <a:ln w="12700">
            <a:miter lim="400000"/>
            <a:headEnd/>
            <a:tailEnd/>
          </a:ln>
        </p:spPr>
      </p:pic>
      <p:grpSp>
        <p:nvGrpSpPr>
          <p:cNvPr id="10" name="组合 9"/>
          <p:cNvGrpSpPr/>
          <p:nvPr/>
        </p:nvGrpSpPr>
        <p:grpSpPr>
          <a:xfrm>
            <a:off x="531495" y="394970"/>
            <a:ext cx="11057890" cy="467360"/>
            <a:chOff x="837" y="622"/>
            <a:chExt cx="17414" cy="736"/>
          </a:xfrm>
        </p:grpSpPr>
        <p:sp>
          <p:nvSpPr>
            <p:cNvPr id="2" name="幻灯片副标题"/>
            <p:cNvSpPr txBox="1"/>
            <p:nvPr/>
          </p:nvSpPr>
          <p:spPr>
            <a:xfrm>
              <a:off x="837" y="622"/>
              <a:ext cx="17300" cy="736"/>
            </a:xfrm>
            <a:prstGeom prst="rect">
              <a:avLst/>
            </a:prstGeom>
          </p:spPr>
          <p:txBody>
            <a:bodyPr vert="horz" lIns="45719" tIns="45719" rIns="45719" bIns="45719" rtlCol="0">
              <a:noAutofit/>
            </a:bodyPr>
            <a:lstStyle>
              <a:lvl1pPr marL="0" indent="0" algn="l" defTabSz="726440" rtl="0" eaLnBrk="1" latinLnBrk="0" hangingPunct="1">
                <a:lnSpc>
                  <a:spcPct val="100000"/>
                </a:lnSpc>
                <a:spcBef>
                  <a:spcPct val="0"/>
                </a:spcBef>
                <a:buSzTx/>
                <a:buFont typeface="Arial" panose="020B0604020202020204" pitchFamily="34" charset="0"/>
                <a:buNone/>
                <a:defRPr sz="242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>
                  <a:solidFill>
                    <a:srgbClr val="005493"/>
                  </a:solidFill>
                </a:defRPr>
              </a:pPr>
              <a:r>
                <a:rPr sz="2400" b="1">
                  <a:solidFill>
                    <a:srgbClr val="1A5276"/>
                  </a:solidFill>
                  <a:latin typeface="微软雅黑"/>
                  <a:ea typeface="微软雅黑"/>
                </a:rPr>
                <a:t>实验效果评价</a:t>
              </a:r>
              <a:endParaRPr lang="en-US" altLang="zh-CN" sz="2400">
                <a:solidFill>
                  <a:srgbClr val="00B0F0"/>
                </a:solidFill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</a:endParaRPr>
            </a:p>
          </p:txBody>
        </p:sp>
        <p:sp>
          <p:nvSpPr>
            <p:cNvPr id="4" name="线条"/>
            <p:cNvSpPr/>
            <p:nvPr/>
          </p:nvSpPr>
          <p:spPr>
            <a:xfrm>
              <a:off x="949" y="1347"/>
              <a:ext cx="17303" cy="0"/>
            </a:xfrm>
            <a:prstGeom prst="line">
              <a:avLst/>
            </a:prstGeom>
            <a:ln w="25400">
              <a:solidFill>
                <a:srgbClr val="00B0F0"/>
              </a:solidFill>
              <a:miter lim="400000"/>
            </a:ln>
          </p:spPr>
          <p:txBody>
            <a:bodyPr lIns="25400" tIns="25400" rIns="25400" bIns="25400" anchor="ctr"/>
            <a:lstStyle/>
            <a:p>
              <a:endParaRPr sz="900">
                <a:sym typeface="微软雅黑" panose="020B0503020204020204" charset="-122"/>
              </a:endParaRPr>
            </a:p>
          </p:txBody>
        </p:sp>
        <p:pic>
          <p:nvPicPr>
            <p:cNvPr id="3" name="图片 2" descr="Frame 9278 (1)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5670" y="669"/>
              <a:ext cx="2540" cy="510"/>
            </a:xfrm>
            <a:prstGeom prst="rect">
              <a:avLst/>
            </a:prstGeom>
          </p:spPr>
        </p:pic>
      </p:grpSp>
      <p:sp>
        <p:nvSpPr>
          <p:cNvPr id="179" name="TextBox 178"/>
          <p:cNvSpPr txBox="1"/>
          <p:nvPr/>
        </p:nvSpPr>
        <p:spPr>
          <a:xfrm>
            <a:off x="571500" y="1143000"/>
            <a:ext cx="5334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>
                <a:solidFill>
                  <a:srgbClr val="333333"/>
                </a:solidFill>
                <a:latin typeface="微软雅黑"/>
                <a:ea typeface="微软雅黑"/>
              </a:rPr>
              <a:t>■ 教学目标达成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333333"/>
                </a:solidFill>
                <a:latin typeface="微软雅黑"/>
                <a:ea typeface="微软雅黑"/>
              </a:rPr>
              <a:t>概念理解正确率 31% → 88%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333333"/>
                </a:solidFill>
                <a:latin typeface="微软雅黑"/>
                <a:ea typeface="微软雅黑"/>
              </a:rPr>
              <a:t>能写出F=mrω²并解释 93%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333333"/>
                </a:solidFill>
                <a:latin typeface="微软雅黑"/>
                <a:ea typeface="微软雅黑"/>
              </a:rPr>
              <a:t>能独立设计控制变量方案 81%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333333"/>
                </a:solidFill>
                <a:latin typeface="微软雅黑"/>
                <a:ea typeface="微软雅黑"/>
              </a:rPr>
              <a:t/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333333"/>
                </a:solidFill>
                <a:latin typeface="微软雅黑"/>
                <a:ea typeface="微软雅黑"/>
              </a:rPr>
              <a:t>■ 学生参与度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333333"/>
                </a:solidFill>
                <a:latin typeface="微软雅黑"/>
                <a:ea typeface="微软雅黑"/>
              </a:rPr>
              <a:t>12小组全部完成6组+数据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333333"/>
                </a:solidFill>
                <a:latin typeface="微软雅黑"/>
                <a:ea typeface="微软雅黑"/>
              </a:rPr>
              <a:t>平均每组采集7.3组数据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333333"/>
                </a:solidFill>
                <a:latin typeface="微软雅黑"/>
                <a:ea typeface="微软雅黑"/>
              </a:rPr>
              <a:t>分工明确，协作融洽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333333"/>
                </a:solidFill>
                <a:latin typeface="微软雅黑"/>
                <a:ea typeface="微软雅黑"/>
              </a:rPr>
              <a:t/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333333"/>
                </a:solidFill>
                <a:latin typeface="微软雅黑"/>
                <a:ea typeface="微软雅黑"/>
              </a:rPr>
              <a:t>■ 数据测量精度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333333"/>
                </a:solidFill>
                <a:latin typeface="微软雅黑"/>
                <a:ea typeface="微软雅黑"/>
              </a:rPr>
              <a:t>三组相对误差均 &lt; 3%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333333"/>
                </a:solidFill>
                <a:latin typeface="微软雅黑"/>
                <a:ea typeface="微软雅黑"/>
              </a:rPr>
              <a:t>F-m组误差最小 1.9%</a:t>
            </a:r>
          </a:p>
        </p:txBody>
      </p:sp>
      <p:sp>
        <p:nvSpPr>
          <p:cNvPr id="180" name="TextBox 179"/>
          <p:cNvSpPr txBox="1"/>
          <p:nvPr/>
        </p:nvSpPr>
        <p:spPr>
          <a:xfrm>
            <a:off x="6096000" y="1143000"/>
            <a:ext cx="55245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>
                <a:solidFill>
                  <a:srgbClr val="1A5276"/>
                </a:solidFill>
                <a:latin typeface="微软雅黑"/>
                <a:ea typeface="微软雅黑"/>
              </a:rPr>
              <a:t>■ 三组实验斜率与误差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1A5276"/>
                </a:solidFill>
                <a:latin typeface="微软雅黑"/>
                <a:ea typeface="微软雅黑"/>
              </a:rPr>
              <a:t>F-ω²组：理论0.0150 实测0.0146 误差2.7%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1A5276"/>
                </a:solidFill>
                <a:latin typeface="微软雅黑"/>
                <a:ea typeface="微软雅黑"/>
              </a:rPr>
              <a:t>F-r组：  理论2.50  实测2.43  误差2.8%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1A5276"/>
                </a:solidFill>
                <a:latin typeface="微软雅黑"/>
                <a:ea typeface="微软雅黑"/>
              </a:rPr>
              <a:t>F-m组：  理论0.375 实测0.368 误差1.9%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1A5276"/>
                </a:solidFill>
                <a:latin typeface="微软雅黑"/>
                <a:ea typeface="微软雅黑"/>
              </a:rPr>
              <a:t/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1A5276"/>
                </a:solidFill>
                <a:latin typeface="微软雅黑"/>
                <a:ea typeface="微软雅黑"/>
              </a:rPr>
              <a:t>■ 与传统演示仪对比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1A5276"/>
                </a:solidFill>
                <a:latin typeface="微软雅黑"/>
                <a:ea typeface="微软雅黑"/>
              </a:rPr>
              <a:t>传统：只能"感受"力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1A5276"/>
                </a:solidFill>
                <a:latin typeface="微软雅黑"/>
                <a:ea typeface="微软雅黑"/>
              </a:rPr>
              <a:t>本设计："测量"+"验证"公式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1A5276"/>
                </a:solidFill>
                <a:latin typeface="微软雅黑"/>
                <a:ea typeface="微软雅黑"/>
              </a:rPr>
              <a:t>APP实时绘图，探究兴趣提升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1A5276"/>
                </a:solidFill>
                <a:latin typeface="微软雅黑"/>
                <a:ea typeface="微软雅黑"/>
              </a:rPr>
              <a:t/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1A5276"/>
                </a:solidFill>
                <a:latin typeface="微软雅黑"/>
                <a:ea typeface="微软雅黑"/>
              </a:rPr>
              <a:t>■ 教学反思与改进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1A5276"/>
                </a:solidFill>
                <a:latin typeface="微软雅黑"/>
                <a:ea typeface="微软雅黑"/>
              </a:rPr>
              <a:t>1. APP增加转速稳定性指示灯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1A5276"/>
                </a:solidFill>
                <a:latin typeface="微软雅黑"/>
                <a:ea typeface="微软雅黑"/>
              </a:rPr>
              <a:t>2. 磁吸式快换滑块，不停机换档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1A5276"/>
                </a:solidFill>
                <a:latin typeface="微软雅黑"/>
                <a:ea typeface="微软雅黑"/>
              </a:rPr>
              <a:t>3. 增加向心加速度a=ω²r验证环节</a:t>
            </a:r>
          </a:p>
        </p:txBody>
      </p:sp>
      <p:sp>
        <p:nvSpPr>
          <p:cNvPr id="181" name="TextBox 180"/>
          <p:cNvSpPr txBox="1"/>
          <p:nvPr/>
        </p:nvSpPr>
        <p:spPr>
          <a:xfrm>
            <a:off x="10287000" y="6381750"/>
            <a:ext cx="1714500" cy="2857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999999"/>
                </a:solidFill>
                <a:latin typeface="微软雅黑"/>
                <a:ea typeface="微软雅黑"/>
              </a:rPr>
              <a:t>🎬 13:00-14:30</a:t>
            </a:r>
          </a:p>
        </p:txBody>
      </p:sp>
    </p:spTree>
    <p:custDataLst>
      <p:tags r:id="rId3"/>
    </p:custDataLst>
  </p:cSld>
  <p:clrMapOvr>
    <a:masterClrMapping/>
  </p:clrMapOvr>
  <p:transition spd="slow" advTm="22000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62" name="图像" descr="图像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859499"/>
            <a:ext cx="12192001" cy="1067467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183" name="谢谢观看！"/>
          <p:cNvSpPr txBox="1"/>
          <p:nvPr/>
        </p:nvSpPr>
        <p:spPr>
          <a:xfrm>
            <a:off x="4758055" y="2564481"/>
            <a:ext cx="2675890" cy="1404620"/>
          </a:xfrm>
          <a:prstGeom prst="rect">
            <a:avLst/>
          </a:prstGeom>
          <a:ln w="12700">
            <a:miter lim="400000"/>
          </a:ln>
        </p:spPr>
        <p:txBody>
          <a:bodyPr wrap="none" lIns="25400" tIns="25400" rIns="25400" bIns="25400" anchor="ctr">
            <a:spAutoFit/>
          </a:bodyPr>
          <a:lstStyle>
            <a:lvl1pPr>
              <a:defRPr sz="12000">
                <a:solidFill>
                  <a:srgbClr val="FFFFFF"/>
                </a:solidFill>
                <a:latin typeface="MiSans Heavy" panose="00000A00000000000000" charset="-122"/>
                <a:ea typeface="MiSans Heavy" panose="00000A00000000000000" charset="-122"/>
                <a:cs typeface="MiSans Heavy" panose="00000A00000000000000" charset="-122"/>
                <a:sym typeface="MiSans Heavy" panose="00000A00000000000000" charset="-122"/>
              </a:defRPr>
            </a:lvl1pPr>
          </a:lstStyle>
          <a:p>
            <a:r>
              <a:rPr sz="8800" b="1">
                <a:latin typeface="微软雅黑" panose="020B0503020204020204" charset="-122"/>
                <a:ea typeface="微软雅黑" panose="020B0503020204020204" charset="-122"/>
                <a:cs typeface="思源宋体 Heavy" panose="02020900000000000000" charset="-122"/>
                <a:sym typeface="思源宋体 Heavy" panose="02020900000000000000" charset="-122"/>
              </a:rPr>
              <a:t>谢谢</a:t>
            </a:r>
            <a:r>
              <a:rPr lang="en-US" sz="8800" b="1">
                <a:latin typeface="微软雅黑" panose="020B0503020204020204" charset="-122"/>
                <a:ea typeface="微软雅黑" panose="020B0503020204020204" charset="-122"/>
                <a:cs typeface="思源宋体 Heavy" panose="02020900000000000000" charset="-122"/>
                <a:sym typeface="思源宋体 Heavy" panose="02020900000000000000" charset="-122"/>
              </a:rPr>
              <a:t>!</a:t>
            </a:r>
            <a:endParaRPr lang="en-US" sz="8800" b="1">
              <a:latin typeface="微软雅黑" panose="020B0503020204020204" charset="-122"/>
              <a:ea typeface="微软雅黑" panose="020B0503020204020204" charset="-122"/>
              <a:cs typeface="思源宋体 Heavy" panose="02020900000000000000" charset="-122"/>
              <a:sym typeface="思源宋体 Heavy" panose="02020900000000000000" charset="-122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4306888" y="4580255"/>
            <a:ext cx="3385185" cy="397510"/>
            <a:chOff x="1404" y="7524"/>
            <a:chExt cx="5331" cy="626"/>
          </a:xfrm>
        </p:grpSpPr>
        <p:pic>
          <p:nvPicPr>
            <p:cNvPr id="184" name="图像" descr="图像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404" y="7624"/>
              <a:ext cx="427" cy="428"/>
            </a:xfrm>
            <a:prstGeom prst="rect">
              <a:avLst/>
            </a:prstGeom>
            <a:ln w="12700">
              <a:miter lim="400000"/>
              <a:headEnd/>
              <a:tailEnd/>
            </a:ln>
          </p:spPr>
        </p:pic>
        <p:pic>
          <p:nvPicPr>
            <p:cNvPr id="185" name="图像" descr="图像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445" y="7584"/>
              <a:ext cx="380" cy="507"/>
            </a:xfrm>
            <a:prstGeom prst="rect">
              <a:avLst/>
            </a:prstGeom>
            <a:ln w="12700">
              <a:miter lim="400000"/>
              <a:headEnd/>
              <a:tailEnd/>
            </a:ln>
          </p:spPr>
        </p:pic>
        <p:sp>
          <p:nvSpPr>
            <p:cNvPr id="186" name="2023.10"/>
            <p:cNvSpPr txBox="1"/>
            <p:nvPr/>
          </p:nvSpPr>
          <p:spPr>
            <a:xfrm>
              <a:off x="1916" y="7524"/>
              <a:ext cx="1884" cy="626"/>
            </a:xfrm>
            <a:prstGeom prst="rect">
              <a:avLst/>
            </a:prstGeom>
            <a:ln w="12700">
              <a:miter lim="400000"/>
            </a:ln>
          </p:spPr>
          <p:txBody>
            <a:bodyPr wrap="none" lIns="25400" tIns="25400" rIns="25400" bIns="25400" anchor="ctr">
              <a:spAutoFit/>
            </a:bodyPr>
            <a:lstStyle>
              <a:lvl1pPr>
                <a:defRPr sz="4500">
                  <a:solidFill>
                    <a:srgbClr val="FFFFFF"/>
                  </a:solidFill>
                  <a:latin typeface="MiSans Heavy" panose="00000A00000000000000" charset="-122"/>
                  <a:ea typeface="MiSans Heavy" panose="00000A00000000000000" charset="-122"/>
                  <a:cs typeface="MiSans Heavy" panose="00000A00000000000000" charset="-122"/>
                  <a:sym typeface="MiSans Heavy" panose="00000A00000000000000" charset="-122"/>
                </a:defRPr>
              </a:lvl1pPr>
            </a:lstStyle>
            <a:p>
              <a:r>
                <a:rPr sz="2250" dirty="0">
                  <a:latin typeface="微软雅黑" panose="020B0503020204020204" charset="-122"/>
                  <a:ea typeface="微软雅黑" panose="020B0503020204020204" charset="-122"/>
                  <a:cs typeface="思源宋体 Heavy" panose="02020900000000000000" charset="-122"/>
                  <a:sym typeface="思源宋体 Heavy" panose="02020900000000000000" charset="-122"/>
                </a:rPr>
                <a:t>202</a:t>
              </a:r>
              <a:r>
                <a:rPr lang="en-US" altLang="zh-CN" sz="2250" dirty="0">
                  <a:latin typeface="微软雅黑" panose="020B0503020204020204" charset="-122"/>
                  <a:ea typeface="微软雅黑" panose="020B0503020204020204" charset="-122"/>
                  <a:cs typeface="思源宋体 Heavy" panose="02020900000000000000" charset="-122"/>
                  <a:sym typeface="思源宋体 Heavy" panose="02020900000000000000" charset="-122"/>
                </a:rPr>
                <a:t>X</a:t>
              </a:r>
              <a:r>
                <a:rPr sz="2250" dirty="0">
                  <a:latin typeface="微软雅黑" panose="020B0503020204020204" charset="-122"/>
                  <a:ea typeface="微软雅黑" panose="020B0503020204020204" charset="-122"/>
                  <a:cs typeface="思源宋体 Heavy" panose="02020900000000000000" charset="-122"/>
                  <a:sym typeface="思源宋体 Heavy" panose="02020900000000000000" charset="-122"/>
                </a:rPr>
                <a:t>.</a:t>
              </a:r>
              <a:r>
                <a:rPr lang="en-US" altLang="zh-CN" sz="2250" dirty="0">
                  <a:latin typeface="微软雅黑" panose="020B0503020204020204" charset="-122"/>
                  <a:ea typeface="微软雅黑" panose="020B0503020204020204" charset="-122"/>
                  <a:cs typeface="思源宋体 Heavy" panose="02020900000000000000" charset="-122"/>
                  <a:sym typeface="思源宋体 Heavy" panose="02020900000000000000" charset="-122"/>
                </a:rPr>
                <a:t>XX</a:t>
              </a:r>
              <a:endParaRPr lang="en-US" sz="2250" dirty="0">
                <a:latin typeface="微软雅黑" panose="020B0503020204020204" charset="-122"/>
                <a:ea typeface="微软雅黑" panose="020B0503020204020204" charset="-122"/>
                <a:cs typeface="思源宋体 Heavy" panose="02020900000000000000" charset="-122"/>
                <a:sym typeface="思源宋体 Heavy" panose="02020900000000000000" charset="-122"/>
              </a:endParaRPr>
            </a:p>
          </p:txBody>
        </p:sp>
        <p:sp>
          <p:nvSpPr>
            <p:cNvPr id="187" name="中国·天津"/>
            <p:cNvSpPr txBox="1"/>
            <p:nvPr/>
          </p:nvSpPr>
          <p:spPr>
            <a:xfrm>
              <a:off x="5051" y="7524"/>
              <a:ext cx="1684" cy="626"/>
            </a:xfrm>
            <a:prstGeom prst="rect">
              <a:avLst/>
            </a:prstGeom>
            <a:ln w="12700">
              <a:miter lim="400000"/>
            </a:ln>
          </p:spPr>
          <p:txBody>
            <a:bodyPr wrap="none" lIns="25400" tIns="25400" rIns="25400" bIns="25400" anchor="ctr">
              <a:spAutoFit/>
            </a:bodyPr>
            <a:lstStyle>
              <a:lvl1pPr>
                <a:defRPr sz="4500">
                  <a:solidFill>
                    <a:srgbClr val="FFFFFF"/>
                  </a:solidFill>
                  <a:latin typeface="MiSans Heavy" panose="00000A00000000000000" charset="-122"/>
                  <a:ea typeface="MiSans Heavy" panose="00000A00000000000000" charset="-122"/>
                  <a:cs typeface="MiSans Heavy" panose="00000A00000000000000" charset="-122"/>
                  <a:sym typeface="MiSans Heavy" panose="00000A00000000000000" charset="-122"/>
                </a:defRPr>
              </a:lvl1pPr>
            </a:lstStyle>
            <a:p>
              <a:r>
                <a:rPr sz="2250" dirty="0" err="1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思源宋体 Heavy" panose="02020900000000000000" charset="-122"/>
                </a:rPr>
                <a:t>中国·</a:t>
              </a:r>
              <a:r>
                <a:rPr lang="en-US" altLang="zh-CN" sz="2250" dirty="0" err="1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思源宋体 Heavy" panose="02020900000000000000" charset="-122"/>
                </a:rPr>
                <a:t>XX</a:t>
              </a:r>
              <a:endParaRPr lang="zh-CN" sz="225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思源宋体 Heavy" panose="02020900000000000000" charset="-122"/>
              </a:endParaRPr>
            </a:p>
          </p:txBody>
        </p:sp>
      </p:grpSp>
      <p:pic>
        <p:nvPicPr>
          <p:cNvPr id="8" name="图片 7" descr="Frame 927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82658" y="1014730"/>
            <a:ext cx="5226685" cy="1049655"/>
          </a:xfrm>
          <a:prstGeom prst="rect">
            <a:avLst/>
          </a:prstGeom>
        </p:spPr>
      </p:pic>
      <p:sp>
        <p:nvSpPr>
          <p:cNvPr id="188" name="TextBox 187"/>
          <p:cNvSpPr txBox="1"/>
          <p:nvPr/>
        </p:nvSpPr>
        <p:spPr>
          <a:xfrm>
            <a:off x="10287000" y="6381750"/>
            <a:ext cx="1714500" cy="2857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999999"/>
                </a:solidFill>
                <a:latin typeface="微软雅黑"/>
                <a:ea typeface="微软雅黑"/>
              </a:rPr>
              <a:t>🎬 14:30-15:00</a:t>
            </a:r>
          </a:p>
        </p:txBody>
      </p:sp>
    </p:spTree>
  </p:cSld>
  <p:clrMapOvr>
    <a:masterClrMapping/>
  </p:clrMapOvr>
  <p:transition spd="slow" advTm="22000"/>
</p:sld>
</file>

<file path=ppt/tags/tag1.xml><?xml version="1.0" encoding="utf-8"?>
<p:tagLst xmlns:p="http://schemas.openxmlformats.org/presentationml/2006/main">
  <p:tag name="KSO_WM_BEAUTIFY_FLAG" val=""/>
</p:tagLst>
</file>

<file path=ppt/tags/tag2.xml><?xml version="1.0" encoding="utf-8"?>
<p:tagLst xmlns:p="http://schemas.openxmlformats.org/presentationml/2006/main">
  <p:tag name="TIMING" val="|0.3|0.8|0.7|0.9|0.7|4.8|0.9|1.1|1.2|1.2"/>
</p:tagLst>
</file>

<file path=ppt/tags/tag3.xml><?xml version="1.0" encoding="utf-8"?>
<p:tagLst xmlns:p="http://schemas.openxmlformats.org/presentationml/2006/main">
  <p:tag name="TIMING" val="|1.1|0.8|0.8"/>
</p:tagLst>
</file>

<file path=ppt/tags/tag4.xml><?xml version="1.0" encoding="utf-8"?>
<p:tagLst xmlns:p="http://schemas.openxmlformats.org/presentationml/2006/main">
  <p:tag name="TIMING" val="|1.9|0.6|0.7|1|0.9|0.7|0.7|1|0.9"/>
</p:tagLst>
</file>

<file path=ppt/tags/tag5.xml><?xml version="1.0" encoding="utf-8"?>
<p:tagLst xmlns:p="http://schemas.openxmlformats.org/presentationml/2006/main">
  <p:tag name="TIMING" val="|1.1|0.8|0.8"/>
</p:tagLst>
</file>

<file path=ppt/tags/tag6.xml><?xml version="1.0" encoding="utf-8"?>
<p:tagLst xmlns:p="http://schemas.openxmlformats.org/presentationml/2006/main">
  <p:tag name="TIMING" val="|1.9|0.6|0.7|1|0.9|0.7|0.7|1|0.9"/>
</p:tagLst>
</file>

<file path=ppt/tags/tag7.xml><?xml version="1.0" encoding="utf-8"?>
<p:tagLst xmlns:p="http://schemas.openxmlformats.org/presentationml/2006/main">
  <p:tag name="TIMING" val="|1.1|0.8|0.8"/>
</p:tagLst>
</file>

<file path=ppt/tags/tag8.xml><?xml version="1.0" encoding="utf-8"?>
<p:tagLst xmlns:p="http://schemas.openxmlformats.org/presentationml/2006/main">
  <p:tag name="TIMING" val="|1.9|0.6|0.7|1|0.9|0.7|0.7|1|0.9"/>
</p:tagLst>
</file>

<file path=ppt/tags/tag9.xml><?xml version="1.0" encoding="utf-8"?>
<p:tagLst xmlns:p="http://schemas.openxmlformats.org/presentationml/2006/main">
  <p:tag name="TIMING" val="|1.1|0.8|0.8"/>
</p:tagLst>
</file>

<file path=ppt/tags/tag10.xml><?xml version="1.0" encoding="utf-8"?>
<p:tagLst xmlns:p="http://schemas.openxmlformats.org/presentationml/2006/main">
  <p:tag name="TIMING" val="|1.9|0.6|0.7|1|0.9|0.7|0.7|1|0.9"/>
</p:tagLst>
</file>

<file path=ppt/tags/tag11.xml><?xml version="1.0" encoding="utf-8"?>
<p:tagLst xmlns:p="http://schemas.openxmlformats.org/presentationml/2006/main">
  <p:tag name="TIMING" val="|1.1|0.8|0.8"/>
</p:tagLst>
</file>

<file path=ppt/tags/tag12.xml><?xml version="1.0" encoding="utf-8"?>
<p:tagLst xmlns:p="http://schemas.openxmlformats.org/presentationml/2006/main">
  <p:tag name="TIMING" val="|1.9|0.6|0.7|1|0.9|0.7|0.7|1|0.9"/>
</p:tagLst>
</file>

<file path=ppt/tags/tag13.xml><?xml version="1.0" encoding="utf-8"?>
<p:tagLst xmlns:p="http://schemas.openxmlformats.org/presentationml/2006/main">
  <p:tag name="TIMING" val="|1.1|0.8|0.8"/>
</p:tagLst>
</file>

<file path=ppt/tags/tag14.xml><?xml version="1.0" encoding="utf-8"?>
<p:tagLst xmlns:p="http://schemas.openxmlformats.org/presentationml/2006/main">
  <p:tag name="TIMING" val="|1.9|0.6|0.7|1|0.9|0.7|0.7|1|0.9"/>
</p:tagLst>
</file>

<file path=ppt/tags/tag15.xml><?xml version="1.0" encoding="utf-8"?>
<p:tagLst xmlns:p="http://schemas.openxmlformats.org/presentationml/2006/main">
  <p:tag name="KSO_WPP_MARK_KEY" val="294ca813-14aa-4581-a14e-2fa762cb3fbe"/>
  <p:tag name="COMMONDATA" val="eyJoZGlkIjoiYTQxNTI5ODQyNDI5MzMzNzE3YWM1N2IzZDMzZTNlZGUifQ==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248</Words>
  <Application>WPS 演示</Application>
  <PresentationFormat>宽屏</PresentationFormat>
  <Paragraphs>59</Paragraphs>
  <Slides>15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26" baseType="lpstr">
      <vt:lpstr>Arial</vt:lpstr>
      <vt:lpstr>宋体</vt:lpstr>
      <vt:lpstr>Wingdings</vt:lpstr>
      <vt:lpstr>MiSans Heavy</vt:lpstr>
      <vt:lpstr>微软雅黑</vt:lpstr>
      <vt:lpstr>思源宋体 Heavy</vt:lpstr>
      <vt:lpstr>微软雅黑 Light</vt:lpstr>
      <vt:lpstr>Arial Unicode MS</vt:lpstr>
      <vt:lpstr>Calibri</vt:lpstr>
      <vt:lpstr>等线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Administrator</dc:creator>
  <cp:lastModifiedBy>黄韵琪</cp:lastModifiedBy>
  <cp:revision>90</cp:revision>
  <dcterms:created xsi:type="dcterms:W3CDTF">2023-09-21T01:39:00Z</dcterms:created>
  <dcterms:modified xsi:type="dcterms:W3CDTF">2026-06-17T03:54:07Z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420AD00B45614B98AF3849B8CADF7518_13</vt:lpwstr>
  </property>
  <property fmtid="{D5CDD505-2E9C-101B-9397-08002B2CF9AE}" pid="3" name="KSOProductBuildVer">
    <vt:lpwstr>2052-12.1.0.23542</vt:lpwstr>
  </property>
</Properties>
</file>